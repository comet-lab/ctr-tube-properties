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8E_F2605F0D.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AF_DC4BCADF.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A3_B241847E.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1AA_1DBDF916.xml" ContentType="application/vnd.ms-powerpoint.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7" r:id="rId2"/>
  </p:sldMasterIdLst>
  <p:notesMasterIdLst>
    <p:notesMasterId r:id="rId29"/>
  </p:notesMasterIdLst>
  <p:handoutMasterIdLst>
    <p:handoutMasterId r:id="rId30"/>
  </p:handoutMasterIdLst>
  <p:sldIdLst>
    <p:sldId id="337" r:id="rId3"/>
    <p:sldId id="397" r:id="rId4"/>
    <p:sldId id="398" r:id="rId5"/>
    <p:sldId id="402" r:id="rId6"/>
    <p:sldId id="435" r:id="rId7"/>
    <p:sldId id="436" r:id="rId8"/>
    <p:sldId id="438" r:id="rId9"/>
    <p:sldId id="417" r:id="rId10"/>
    <p:sldId id="327" r:id="rId11"/>
    <p:sldId id="431" r:id="rId12"/>
    <p:sldId id="420" r:id="rId13"/>
    <p:sldId id="418" r:id="rId14"/>
    <p:sldId id="419" r:id="rId15"/>
    <p:sldId id="421" r:id="rId16"/>
    <p:sldId id="430" r:id="rId17"/>
    <p:sldId id="422" r:id="rId18"/>
    <p:sldId id="432" r:id="rId19"/>
    <p:sldId id="423" r:id="rId20"/>
    <p:sldId id="424" r:id="rId21"/>
    <p:sldId id="425" r:id="rId22"/>
    <p:sldId id="426" r:id="rId23"/>
    <p:sldId id="427" r:id="rId24"/>
    <p:sldId id="428" r:id="rId25"/>
    <p:sldId id="433" r:id="rId26"/>
    <p:sldId id="439" r:id="rId27"/>
    <p:sldId id="429" r:id="rId28"/>
  </p:sldIdLst>
  <p:sldSz cx="12192000" cy="6858000"/>
  <p:notesSz cx="6858000" cy="9144000"/>
  <p:custDataLst>
    <p:tags r:id="rId3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20" userDrawn="1">
          <p15:clr>
            <a:srgbClr val="A4A3A4"/>
          </p15:clr>
        </p15:guide>
        <p15:guide id="2" orient="horz" pos="960" userDrawn="1">
          <p15:clr>
            <a:srgbClr val="A4A3A4"/>
          </p15:clr>
        </p15:guide>
        <p15:guide id="3" orient="horz" pos="3888" userDrawn="1">
          <p15:clr>
            <a:srgbClr val="A4A3A4"/>
          </p15:clr>
        </p15:guide>
        <p15:guide id="4" pos="456" userDrawn="1">
          <p15:clr>
            <a:srgbClr val="A4A3A4"/>
          </p15:clr>
        </p15:guide>
        <p15:guide id="5" pos="7296"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DD5F68F-D836-EC1A-A3CF-8A53DCC8FAEF}" name="DeMaio, Christopher" initials="DC" userId="S::cjdemaio@wpi.edu::806e32e6-499f-435f-aa0a-3b708ae9d85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122F"/>
    <a:srgbClr val="FFFFFF"/>
    <a:srgbClr val="46A0DC"/>
    <a:srgbClr val="B2B7BB"/>
    <a:srgbClr val="D9CD95"/>
    <a:srgbClr val="B7A079"/>
    <a:srgbClr val="2C6A8C"/>
    <a:srgbClr val="000000"/>
    <a:srgbClr val="6D6D6D"/>
    <a:srgbClr val="AB19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578" autoAdjust="0"/>
  </p:normalViewPr>
  <p:slideViewPr>
    <p:cSldViewPr snapToGrid="0" showGuides="1">
      <p:cViewPr>
        <p:scale>
          <a:sx n="75" d="100"/>
          <a:sy n="75" d="100"/>
        </p:scale>
        <p:origin x="178" y="29"/>
      </p:cViewPr>
      <p:guideLst>
        <p:guide orient="horz" pos="720"/>
        <p:guide orient="horz" pos="960"/>
        <p:guide orient="horz" pos="3888"/>
        <p:guide pos="456"/>
        <p:guide pos="7296"/>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8" d="100"/>
          <a:sy n="88" d="100"/>
        </p:scale>
        <p:origin x="2964"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8/10/relationships/authors" Targe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6.xml"/></Relationships>
</file>

<file path=ppt/comments/modernComment_1A3_B241847E.xml><?xml version="1.0" encoding="utf-8"?>
<p188:cmLst xmlns:a="http://schemas.openxmlformats.org/drawingml/2006/main" xmlns:r="http://schemas.openxmlformats.org/officeDocument/2006/relationships" xmlns:p188="http://schemas.microsoft.com/office/powerpoint/2018/8/main">
  <p188:cm id="{E5756C8A-8A3D-4222-A717-3F1584C81C39}" authorId="{FDD5F68F-D836-EC1A-A3CF-8A53DCC8FAEF}" created="2024-04-09T13:24:49.413">
    <ac:txMkLst xmlns:ac="http://schemas.microsoft.com/office/drawing/2013/main/command">
      <pc:docMk xmlns:pc="http://schemas.microsoft.com/office/powerpoint/2013/main/command"/>
      <pc:sldMk xmlns:pc="http://schemas.microsoft.com/office/powerpoint/2013/main/command" cId="2990638206" sldId="419"/>
      <ac:spMk id="11" creationId="{A3D4352E-D4D7-DFD6-3DCC-C4D71B7B1963}"/>
      <ac:txMk cp="34" len="5">
        <ac:context len="136" hash="3145404639"/>
      </ac:txMk>
    </ac:txMkLst>
    <p188:pos x="2057997" y="647252"/>
    <p188:txBody>
      <a:bodyPr/>
      <a:lstStyle/>
      <a:p>
        <a:r>
          <a:rPr lang="en-US"/>
          <a:t>Should I specify tube geometry in the slides? Or is it sufficient to say I had 3 different sizes?</a:t>
        </a:r>
      </a:p>
    </p188:txBody>
  </p188:cm>
  <p188:cm id="{DF39BCE8-7430-4F80-98C9-259DA217C459}" authorId="{FDD5F68F-D836-EC1A-A3CF-8A53DCC8FAEF}" created="2024-04-09T13:32:08.005">
    <ac:txMkLst xmlns:ac="http://schemas.microsoft.com/office/drawing/2013/main/command">
      <pc:docMk xmlns:pc="http://schemas.microsoft.com/office/powerpoint/2013/main/command"/>
      <pc:sldMk xmlns:pc="http://schemas.microsoft.com/office/powerpoint/2013/main/command" cId="2990638206" sldId="419"/>
      <ac:spMk id="11" creationId="{A3D4352E-D4D7-DFD6-3DCC-C4D71B7B1963}"/>
      <ac:txMk cp="82" len="9">
        <ac:context len="136" hash="3145404639"/>
      </ac:txMk>
    </ac:txMkLst>
    <p188:pos x="3456491" y="991496"/>
    <p188:txBody>
      <a:bodyPr/>
      <a:lstStyle/>
      <a:p>
        <a:r>
          <a:rPr lang="en-US"/>
          <a:t>Do I need a slide on how I measured the tube curvatures? Maybe just a backup slide, for if someone asks about it?</a:t>
        </a:r>
      </a:p>
    </p188:txBody>
  </p188:cm>
</p188:cmLst>
</file>

<file path=ppt/comments/modernComment_1AA_1DBDF916.xml><?xml version="1.0" encoding="utf-8"?>
<p188:cmLst xmlns:a="http://schemas.openxmlformats.org/drawingml/2006/main" xmlns:r="http://schemas.openxmlformats.org/officeDocument/2006/relationships" xmlns:p188="http://schemas.microsoft.com/office/powerpoint/2018/8/main">
  <p188:cm id="{4BB4138F-1B33-494F-8E29-96CC741AB80A}" authorId="{FDD5F68F-D836-EC1A-A3CF-8A53DCC8FAEF}" created="2024-04-09T15:14:08.629">
    <ac:deMkLst xmlns:ac="http://schemas.microsoft.com/office/drawing/2013/main/command">
      <pc:docMk xmlns:pc="http://schemas.microsoft.com/office/powerpoint/2013/main/command"/>
      <pc:sldMk xmlns:pc="http://schemas.microsoft.com/office/powerpoint/2013/main/command" cId="498989334" sldId="426"/>
      <ac:picMk id="6" creationId="{E3996249-6C15-9E15-4258-27FF2E96F8EE}"/>
    </ac:deMkLst>
    <p188:txBody>
      <a:bodyPr/>
      <a:lstStyle/>
      <a:p>
        <a:r>
          <a:rPr lang="en-US"/>
          <a:t>Replace this picture with a video?</a:t>
        </a:r>
      </a:p>
    </p188:txBody>
  </p188:cm>
</p188:cmLst>
</file>

<file path=ppt/comments/modernComment_1AF_DC4BCADF.xml><?xml version="1.0" encoding="utf-8"?>
<p188:cmLst xmlns:a="http://schemas.openxmlformats.org/drawingml/2006/main" xmlns:r="http://schemas.openxmlformats.org/officeDocument/2006/relationships" xmlns:p188="http://schemas.microsoft.com/office/powerpoint/2018/8/main">
  <p188:cm id="{DC87B7BA-1000-4CB0-AFE1-77F912CDCB0E}" authorId="{FDD5F68F-D836-EC1A-A3CF-8A53DCC8FAEF}" created="2024-04-08T03:11:55.033">
    <pc:sldMkLst xmlns:pc="http://schemas.microsoft.com/office/powerpoint/2013/main/command">
      <pc:docMk/>
      <pc:sldMk cId="27646891" sldId="420"/>
    </pc:sldMkLst>
    <p188:txBody>
      <a:bodyPr/>
      <a:lstStyle/>
      <a:p>
        <a:r>
          <a:rPr lang="en-US"/>
          <a:t>Ordering of slides 6-10?</a:t>
        </a:r>
      </a:p>
    </p188:txBody>
  </p188:cm>
</p188:cmLst>
</file>

<file path=ppt/comments/modernComment_18E_F2605F0D.xml><?xml version="1.0" encoding="utf-8"?>
<p188:cmLst xmlns:a="http://schemas.openxmlformats.org/drawingml/2006/main" xmlns:r="http://schemas.openxmlformats.org/officeDocument/2006/relationships" xmlns:p188="http://schemas.microsoft.com/office/powerpoint/2018/8/main">
  <p188:cm id="{67AEDD69-A65F-4D97-A217-E163EEF3B682}" authorId="{FDD5F68F-D836-EC1A-A3CF-8A53DCC8FAEF}" created="2024-04-08T01:54:38.928">
    <ac:deMkLst xmlns:ac="http://schemas.microsoft.com/office/drawing/2013/main/command">
      <pc:docMk xmlns:pc="http://schemas.microsoft.com/office/powerpoint/2013/main/command"/>
      <pc:sldMk xmlns:pc="http://schemas.microsoft.com/office/powerpoint/2013/main/command" cId="4066402061" sldId="398"/>
      <ac:spMk id="3" creationId="{02DE3462-FB7C-4A22-D81A-0887CBB4F213}"/>
    </ac:deMkLst>
    <p188:txBody>
      <a:bodyPr/>
      <a:lstStyle/>
      <a:p>
        <a:r>
          <a:rPr lang="en-US"/>
          <a:t>How should I work in the part about analyzing the heat-setting process? Do I even mention it here?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50449CD-19C8-44C0-A36B-1667EDB1312B}" type="datetimeFigureOut">
              <a:rPr lang="en-US" smtClean="0"/>
              <a:t>4/10/2024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5C7A2D6-6A74-4789-8A27-67CDFFE8E463}" type="slidenum">
              <a:rPr lang="en-US" smtClean="0"/>
              <a:t>‹#›</a:t>
            </a:fld>
            <a:endParaRPr lang="en-US"/>
          </a:p>
        </p:txBody>
      </p:sp>
    </p:spTree>
    <p:extLst>
      <p:ext uri="{BB962C8B-B14F-4D97-AF65-F5344CB8AC3E}">
        <p14:creationId xmlns:p14="http://schemas.microsoft.com/office/powerpoint/2010/main" val="29090795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14C511E-AA3B-43E3-B946-406AB5E4C4BB}" type="datetimeFigureOut">
              <a:rPr lang="en-US" smtClean="0"/>
              <a:pPr/>
              <a:t>4/10/2024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8E4A049-8685-4352-9DC2-828F08FD542B}" type="slidenum">
              <a:rPr lang="en-US" smtClean="0"/>
              <a:pPr/>
              <a:t>‹#›</a:t>
            </a:fld>
            <a:endParaRPr lang="en-US"/>
          </a:p>
        </p:txBody>
      </p:sp>
    </p:spTree>
    <p:extLst>
      <p:ext uri="{BB962C8B-B14F-4D97-AF65-F5344CB8AC3E}">
        <p14:creationId xmlns:p14="http://schemas.microsoft.com/office/powerpoint/2010/main" val="544259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all, thank you for coming to my thesis defense. I’ll be presenting experimental results regarding the mechanical properties and behavior of Nylon-12 tubing and discussing how my findings apply to concentric tube robots specifically.</a:t>
            </a:r>
          </a:p>
        </p:txBody>
      </p:sp>
      <p:sp>
        <p:nvSpPr>
          <p:cNvPr id="4" name="Slide Number Placeholder 3"/>
          <p:cNvSpPr>
            <a:spLocks noGrp="1"/>
          </p:cNvSpPr>
          <p:nvPr>
            <p:ph type="sldNum" sz="quarter" idx="5"/>
          </p:nvPr>
        </p:nvSpPr>
        <p:spPr/>
        <p:txBody>
          <a:bodyPr/>
          <a:lstStyle/>
          <a:p>
            <a:fld id="{78E4A049-8685-4352-9DC2-828F08FD542B}" type="slidenum">
              <a:rPr lang="en-US" smtClean="0"/>
              <a:pPr/>
              <a:t>1</a:t>
            </a:fld>
            <a:endParaRPr lang="en-US"/>
          </a:p>
        </p:txBody>
      </p:sp>
    </p:spTree>
    <p:extLst>
      <p:ext uri="{BB962C8B-B14F-4D97-AF65-F5344CB8AC3E}">
        <p14:creationId xmlns:p14="http://schemas.microsoft.com/office/powerpoint/2010/main" val="11178962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thesis, I analyze the behavior of Nylon-12 tubing in response to various loading and unloading conditions. The evidence I collected disproves two assumptions used throughout the field of concentric tube robot research. The first assumption is that Nylon-12 tubes behave purely elastically at low strains. This means that one would expect Nylon-12 to immediately snap back to its original shape after an external load is removed from the material. The second assumption is that any deformation not immediately recovered after an external load is removed must be plastic—or permanent—deformation.</a:t>
            </a:r>
          </a:p>
          <a:p>
            <a:endParaRPr lang="en-US" dirty="0"/>
          </a:p>
          <a:p>
            <a:r>
              <a:rPr lang="en-US" dirty="0"/>
              <a:t>These two assumptions are key to the kinematics model used throughout the literature. By disproving these assumptions, we invalidate the model. We therefore propose a new model to more accurately capture the time-dependent deformations that Nylon-12 tubes undergo.</a:t>
            </a:r>
          </a:p>
        </p:txBody>
      </p:sp>
      <p:sp>
        <p:nvSpPr>
          <p:cNvPr id="4" name="Slide Number Placeholder 3"/>
          <p:cNvSpPr>
            <a:spLocks noGrp="1"/>
          </p:cNvSpPr>
          <p:nvPr>
            <p:ph type="sldNum" sz="quarter" idx="5"/>
          </p:nvPr>
        </p:nvSpPr>
        <p:spPr/>
        <p:txBody>
          <a:bodyPr/>
          <a:lstStyle/>
          <a:p>
            <a:fld id="{78E4A049-8685-4352-9DC2-828F08FD542B}" type="slidenum">
              <a:rPr lang="en-US" smtClean="0"/>
              <a:pPr/>
              <a:t>3</a:t>
            </a:fld>
            <a:endParaRPr lang="en-US"/>
          </a:p>
        </p:txBody>
      </p:sp>
    </p:spTree>
    <p:extLst>
      <p:ext uri="{BB962C8B-B14F-4D97-AF65-F5344CB8AC3E}">
        <p14:creationId xmlns:p14="http://schemas.microsoft.com/office/powerpoint/2010/main" val="10429748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focus of this thesis is on the material properties of Nylon-12, the motivation is in concentric tube robots, or CTRs. A CTR is a set of telescopically-nested tubes in which each tube has a long, hollow, straight section and then a curved section at the distal end. Each tube in a CTR provides two degrees of freedom: translation along the tube’s central axis and rotation about that axis. Because these robots can be actuated from the base, far from the end effector tip, they can be manufactured to incredibly small diameters, and their dexterity only increases as their size decreases. These properties make CTRs a promising option for many surgical applications.</a:t>
            </a:r>
          </a:p>
        </p:txBody>
      </p:sp>
      <p:sp>
        <p:nvSpPr>
          <p:cNvPr id="4" name="Slide Number Placeholder 3"/>
          <p:cNvSpPr>
            <a:spLocks noGrp="1"/>
          </p:cNvSpPr>
          <p:nvPr>
            <p:ph type="sldNum" sz="quarter" idx="5"/>
          </p:nvPr>
        </p:nvSpPr>
        <p:spPr/>
        <p:txBody>
          <a:bodyPr/>
          <a:lstStyle/>
          <a:p>
            <a:fld id="{78E4A049-8685-4352-9DC2-828F08FD542B}" type="slidenum">
              <a:rPr lang="en-US" smtClean="0"/>
              <a:pPr/>
              <a:t>4</a:t>
            </a:fld>
            <a:endParaRPr lang="en-US"/>
          </a:p>
        </p:txBody>
      </p:sp>
    </p:spTree>
    <p:extLst>
      <p:ext uri="{BB962C8B-B14F-4D97-AF65-F5344CB8AC3E}">
        <p14:creationId xmlns:p14="http://schemas.microsoft.com/office/powerpoint/2010/main" val="15421343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widely used CTR models rely on the Bernoulli-Euler theory of elastic beam mechanics, which describes how beams behave when subjected to an external load. This theory relates the moment M applied to a beam to the deflection w it experiences through this equation. Here, E is the modulus of elasticity, and I is the beam’s second moment of area. If a beam’s deflection is small enough, we can approximate the second derivative of deflection with respect to x as 1 over the beam’s bending radius, or the beam’s curvature.</a:t>
            </a:r>
          </a:p>
        </p:txBody>
      </p:sp>
      <p:sp>
        <p:nvSpPr>
          <p:cNvPr id="4" name="Slide Number Placeholder 3"/>
          <p:cNvSpPr>
            <a:spLocks noGrp="1"/>
          </p:cNvSpPr>
          <p:nvPr>
            <p:ph type="sldNum" sz="quarter" idx="5"/>
          </p:nvPr>
        </p:nvSpPr>
        <p:spPr/>
        <p:txBody>
          <a:bodyPr/>
          <a:lstStyle/>
          <a:p>
            <a:fld id="{78E4A049-8685-4352-9DC2-828F08FD542B}" type="slidenum">
              <a:rPr lang="en-US" smtClean="0"/>
              <a:pPr/>
              <a:t>5</a:t>
            </a:fld>
            <a:endParaRPr lang="en-US"/>
          </a:p>
        </p:txBody>
      </p:sp>
    </p:spTree>
    <p:extLst>
      <p:ext uri="{BB962C8B-B14F-4D97-AF65-F5344CB8AC3E}">
        <p14:creationId xmlns:p14="http://schemas.microsoft.com/office/powerpoint/2010/main" val="3032588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assume that a CTR’s tubes bend with constant curvature, then the moments the tubes apply to each other are constant along the length of the tubes. This assumption allows us to calculate the equilibrium curvature of a set of nested tubes as a weighted average of the tubes’ initial curvatures</a:t>
            </a:r>
            <a:r>
              <a:rPr lang="en-US" sz="1800" dirty="0">
                <a:effectLst/>
                <a:latin typeface="Calibri" panose="020F0502020204030204" pitchFamily="34" charset="0"/>
                <a:ea typeface="Calibri" panose="020F0502020204030204" pitchFamily="34" charset="0"/>
                <a:cs typeface="Times New Roman" panose="02020603050405020304" pitchFamily="18" charset="0"/>
              </a:rPr>
              <a:t>. In this calculation, the weights are the bending stiffnesses of each tube, defined as a product of the modulus of elasticity and the second moment of area. This elastic model of calculating equilibrium curvature is central to CTR kinematics.</a:t>
            </a:r>
          </a:p>
        </p:txBody>
      </p:sp>
      <p:sp>
        <p:nvSpPr>
          <p:cNvPr id="4" name="Slide Number Placeholder 3"/>
          <p:cNvSpPr>
            <a:spLocks noGrp="1"/>
          </p:cNvSpPr>
          <p:nvPr>
            <p:ph type="sldNum" sz="quarter" idx="5"/>
          </p:nvPr>
        </p:nvSpPr>
        <p:spPr/>
        <p:txBody>
          <a:bodyPr/>
          <a:lstStyle/>
          <a:p>
            <a:fld id="{78E4A049-8685-4352-9DC2-828F08FD542B}" type="slidenum">
              <a:rPr lang="en-US" smtClean="0"/>
              <a:pPr/>
              <a:t>6</a:t>
            </a:fld>
            <a:endParaRPr lang="en-US"/>
          </a:p>
        </p:txBody>
      </p:sp>
    </p:spTree>
    <p:extLst>
      <p:ext uri="{BB962C8B-B14F-4D97-AF65-F5344CB8AC3E}">
        <p14:creationId xmlns:p14="http://schemas.microsoft.com/office/powerpoint/2010/main" val="42148457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assumption of the Bernoulli-Euler model is that tubes bend elastically as long as they are not subjected to strains exceeding their material strain limit. If the tubes are subjected to strains greater than that limit, then they will undergo plastic deformation. We can use that strain limit and the tube’s geometry to calculate the maximum </a:t>
            </a:r>
            <a:r>
              <a:rPr lang="en-US" dirty="0" err="1"/>
              <a:t>precurvature</a:t>
            </a:r>
            <a:r>
              <a:rPr lang="en-US" dirty="0"/>
              <a:t> to which we can manufacture a tube such that the tube can be fully straightened without undergoing plastic deformation. This value is often used as a design restriction for roboticists designing CTRs, so materials with higher strain limits are generally desirable when creating CTR tubes.</a:t>
            </a:r>
          </a:p>
        </p:txBody>
      </p:sp>
      <p:sp>
        <p:nvSpPr>
          <p:cNvPr id="4" name="Slide Number Placeholder 3"/>
          <p:cNvSpPr>
            <a:spLocks noGrp="1"/>
          </p:cNvSpPr>
          <p:nvPr>
            <p:ph type="sldNum" sz="quarter" idx="5"/>
          </p:nvPr>
        </p:nvSpPr>
        <p:spPr/>
        <p:txBody>
          <a:bodyPr/>
          <a:lstStyle/>
          <a:p>
            <a:fld id="{78E4A049-8685-4352-9DC2-828F08FD542B}" type="slidenum">
              <a:rPr lang="en-US" smtClean="0"/>
              <a:pPr/>
              <a:t>7</a:t>
            </a:fld>
            <a:endParaRPr lang="en-US"/>
          </a:p>
        </p:txBody>
      </p:sp>
    </p:spTree>
    <p:extLst>
      <p:ext uri="{BB962C8B-B14F-4D97-AF65-F5344CB8AC3E}">
        <p14:creationId xmlns:p14="http://schemas.microsoft.com/office/powerpoint/2010/main" val="19706926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CTR researchers make their robots’ tubes out of a nickel-titanium alloy called Nitinol. Nitinol is </a:t>
            </a:r>
            <a:r>
              <a:rPr lang="en-US" dirty="0" err="1"/>
              <a:t>superelastic</a:t>
            </a:r>
            <a:r>
              <a:rPr lang="en-US" dirty="0"/>
              <a:t>, meaning it can undergo large strains without experiencing any permanent change to its shape. This property makes it the preferred choice for researchers designing a device to navigate the twists and turns of the human body. Despite its advantages, Nitinol remains inaccessible for many researchers. Specialized furnaces are required to curve the tubes in a process that is difficult to master and incredibly prone to error. Nitinol can be hard to acquire, as well: it can cost up to $100 per foot, and the few manufacturers who supply it have long and unpredictable lead times.</a:t>
            </a:r>
          </a:p>
        </p:txBody>
      </p:sp>
      <p:sp>
        <p:nvSpPr>
          <p:cNvPr id="4" name="Slide Number Placeholder 3"/>
          <p:cNvSpPr>
            <a:spLocks noGrp="1"/>
          </p:cNvSpPr>
          <p:nvPr>
            <p:ph type="sldNum" sz="quarter" idx="5"/>
          </p:nvPr>
        </p:nvSpPr>
        <p:spPr/>
        <p:txBody>
          <a:bodyPr/>
          <a:lstStyle/>
          <a:p>
            <a:fld id="{78E4A049-8685-4352-9DC2-828F08FD542B}" type="slidenum">
              <a:rPr lang="en-US" smtClean="0"/>
              <a:pPr/>
              <a:t>8</a:t>
            </a:fld>
            <a:endParaRPr lang="en-US"/>
          </a:p>
        </p:txBody>
      </p:sp>
    </p:spTree>
    <p:extLst>
      <p:ext uri="{BB962C8B-B14F-4D97-AF65-F5344CB8AC3E}">
        <p14:creationId xmlns:p14="http://schemas.microsoft.com/office/powerpoint/2010/main" val="3150081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of the challenges of working with Nitinol, researchers are turning to alternative materials, with various thermoplastics showing promise. Many of these plastics can be 3D printed, and others can be heat set using conventional ovens instead of the special furnaces Nitinol requires. </a:t>
            </a:r>
          </a:p>
        </p:txBody>
      </p:sp>
      <p:sp>
        <p:nvSpPr>
          <p:cNvPr id="4" name="Slide Number Placeholder 3"/>
          <p:cNvSpPr>
            <a:spLocks noGrp="1"/>
          </p:cNvSpPr>
          <p:nvPr>
            <p:ph type="sldNum" sz="quarter" idx="5"/>
          </p:nvPr>
        </p:nvSpPr>
        <p:spPr/>
        <p:txBody>
          <a:bodyPr/>
          <a:lstStyle/>
          <a:p>
            <a:fld id="{78E4A049-8685-4352-9DC2-828F08FD542B}" type="slidenum">
              <a:rPr lang="en-US" smtClean="0"/>
              <a:pPr/>
              <a:t>9</a:t>
            </a:fld>
            <a:endParaRPr lang="en-US"/>
          </a:p>
        </p:txBody>
      </p:sp>
    </p:spTree>
    <p:extLst>
      <p:ext uri="{BB962C8B-B14F-4D97-AF65-F5344CB8AC3E}">
        <p14:creationId xmlns:p14="http://schemas.microsoft.com/office/powerpoint/2010/main" val="39023689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I’ll go into the specifics of the heat setting process for plastic tubes. Before shaping the tube, we first need to manufacture a mold with the desired shape. We 3D printed our molds using ASA, but they can also be laser-cut out of acrylic or made using any other heat-resistant polymer.</a:t>
            </a:r>
          </a:p>
          <a:p>
            <a:endParaRPr lang="en-US" dirty="0"/>
          </a:p>
        </p:txBody>
      </p:sp>
      <p:sp>
        <p:nvSpPr>
          <p:cNvPr id="4" name="Slide Number Placeholder 3"/>
          <p:cNvSpPr>
            <a:spLocks noGrp="1"/>
          </p:cNvSpPr>
          <p:nvPr>
            <p:ph type="sldNum" sz="quarter" idx="5"/>
          </p:nvPr>
        </p:nvSpPr>
        <p:spPr/>
        <p:txBody>
          <a:bodyPr/>
          <a:lstStyle/>
          <a:p>
            <a:fld id="{78E4A049-8685-4352-9DC2-828F08FD542B}" type="slidenum">
              <a:rPr lang="en-US" smtClean="0"/>
              <a:pPr/>
              <a:t>10</a:t>
            </a:fld>
            <a:endParaRPr lang="en-US"/>
          </a:p>
        </p:txBody>
      </p:sp>
    </p:spTree>
    <p:extLst>
      <p:ext uri="{BB962C8B-B14F-4D97-AF65-F5344CB8AC3E}">
        <p14:creationId xmlns:p14="http://schemas.microsoft.com/office/powerpoint/2010/main" val="1446553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we have that mold, we need an oven that can heat to 450 degrees Fahrenheit. We start by holding the unshapen tube in the oven for 10 seconds to preheat it. This makes it easier to fit the tube in the mold. After the tube cools in the mold, we place the mold in the oven for 50 seconds, and then quench it for just under two minutes in a water bath. After removing the mold from the bath, we let it rest for 5 minutes before taking the tube out and using a razor to cut off any excess material.</a:t>
            </a:r>
          </a:p>
          <a:p>
            <a:endParaRPr lang="en-US" dirty="0"/>
          </a:p>
          <a:p>
            <a:r>
              <a:rPr lang="en-US" dirty="0"/>
              <a:t>This procedure gives way to the first key question I sought to answer…</a:t>
            </a:r>
          </a:p>
        </p:txBody>
      </p:sp>
      <p:sp>
        <p:nvSpPr>
          <p:cNvPr id="4" name="Slide Number Placeholder 3"/>
          <p:cNvSpPr>
            <a:spLocks noGrp="1"/>
          </p:cNvSpPr>
          <p:nvPr>
            <p:ph type="sldNum" sz="quarter" idx="5"/>
          </p:nvPr>
        </p:nvSpPr>
        <p:spPr/>
        <p:txBody>
          <a:bodyPr/>
          <a:lstStyle/>
          <a:p>
            <a:fld id="{78E4A049-8685-4352-9DC2-828F08FD542B}" type="slidenum">
              <a:rPr lang="en-US" smtClean="0"/>
              <a:pPr/>
              <a:t>11</a:t>
            </a:fld>
            <a:endParaRPr lang="en-US"/>
          </a:p>
        </p:txBody>
      </p:sp>
    </p:spTree>
    <p:extLst>
      <p:ext uri="{BB962C8B-B14F-4D97-AF65-F5344CB8AC3E}">
        <p14:creationId xmlns:p14="http://schemas.microsoft.com/office/powerpoint/2010/main" val="4091405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which is, “how repeatable is the heat-setting process for plastic CTR tubes?” There have been studies analyzing the repeatability of the Nitinol manufacturing process, but no one had conducted this kind of experiment using plastic tubes. </a:t>
            </a:r>
          </a:p>
        </p:txBody>
      </p:sp>
      <p:sp>
        <p:nvSpPr>
          <p:cNvPr id="4" name="Slide Number Placeholder 3"/>
          <p:cNvSpPr>
            <a:spLocks noGrp="1"/>
          </p:cNvSpPr>
          <p:nvPr>
            <p:ph type="sldNum" sz="quarter" idx="5"/>
          </p:nvPr>
        </p:nvSpPr>
        <p:spPr/>
        <p:txBody>
          <a:bodyPr/>
          <a:lstStyle/>
          <a:p>
            <a:fld id="{78E4A049-8685-4352-9DC2-828F08FD542B}" type="slidenum">
              <a:rPr lang="en-US" smtClean="0"/>
              <a:pPr/>
              <a:t>12</a:t>
            </a:fld>
            <a:endParaRPr lang="en-US"/>
          </a:p>
        </p:txBody>
      </p:sp>
    </p:spTree>
    <p:extLst>
      <p:ext uri="{BB962C8B-B14F-4D97-AF65-F5344CB8AC3E}">
        <p14:creationId xmlns:p14="http://schemas.microsoft.com/office/powerpoint/2010/main" val="33223052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that I’ll share with you is a study of the repeatability of this process. For this experiment, I manufactured 15 tubes using the process I just explained. I made fives tube with a diameter of 3.3 mm, five with a diameter of 2.64 mm, and five with a diameter of 1.98 mm. After making the tubes, I measured their curvatures are several time intervals in the ensuing hours and days.</a:t>
            </a:r>
          </a:p>
        </p:txBody>
      </p:sp>
      <p:sp>
        <p:nvSpPr>
          <p:cNvPr id="4" name="Slide Number Placeholder 3"/>
          <p:cNvSpPr>
            <a:spLocks noGrp="1"/>
          </p:cNvSpPr>
          <p:nvPr>
            <p:ph type="sldNum" sz="quarter" idx="5"/>
          </p:nvPr>
        </p:nvSpPr>
        <p:spPr/>
        <p:txBody>
          <a:bodyPr/>
          <a:lstStyle/>
          <a:p>
            <a:fld id="{78E4A049-8685-4352-9DC2-828F08FD542B}" type="slidenum">
              <a:rPr lang="en-US" smtClean="0"/>
              <a:pPr/>
              <a:t>13</a:t>
            </a:fld>
            <a:endParaRPr lang="en-US"/>
          </a:p>
        </p:txBody>
      </p:sp>
    </p:spTree>
    <p:extLst>
      <p:ext uri="{BB962C8B-B14F-4D97-AF65-F5344CB8AC3E}">
        <p14:creationId xmlns:p14="http://schemas.microsoft.com/office/powerpoint/2010/main" val="1842489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I found. The red line towards the bottom of the graph represents the intended bending radius of 50 mm, and the other 15 lines each represent the bending radius of a single tube over time. There are 2 main observations we can make here.</a:t>
            </a:r>
          </a:p>
        </p:txBody>
      </p:sp>
      <p:sp>
        <p:nvSpPr>
          <p:cNvPr id="4" name="Slide Number Placeholder 3"/>
          <p:cNvSpPr>
            <a:spLocks noGrp="1"/>
          </p:cNvSpPr>
          <p:nvPr>
            <p:ph type="sldNum" sz="quarter" idx="5"/>
          </p:nvPr>
        </p:nvSpPr>
        <p:spPr/>
        <p:txBody>
          <a:bodyPr/>
          <a:lstStyle/>
          <a:p>
            <a:fld id="{78E4A049-8685-4352-9DC2-828F08FD542B}" type="slidenum">
              <a:rPr lang="en-US" smtClean="0"/>
              <a:pPr/>
              <a:t>14</a:t>
            </a:fld>
            <a:endParaRPr lang="en-US"/>
          </a:p>
        </p:txBody>
      </p:sp>
    </p:spTree>
    <p:extLst>
      <p:ext uri="{BB962C8B-B14F-4D97-AF65-F5344CB8AC3E}">
        <p14:creationId xmlns:p14="http://schemas.microsoft.com/office/powerpoint/2010/main" val="35255040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is that these tubes undergo changes in their shape in the time after they are manufactured. Every tube in this experiment experienced a significant increase in bending radius during the 48 hours after manufacturing. The second conclusion is that the heat-setting process has limited reliability. The tubes all started with similar bending radii when we took them out of the molds, but they did not end that way. We have a lot of tubes that finished with bending radii in the 80-100 mm range, but we also have tubes with radii in the 60-70 mm range, and we have a handful of tubes with radii above 120 mm. </a:t>
            </a:r>
          </a:p>
        </p:txBody>
      </p:sp>
      <p:sp>
        <p:nvSpPr>
          <p:cNvPr id="4" name="Slide Number Placeholder 3"/>
          <p:cNvSpPr>
            <a:spLocks noGrp="1"/>
          </p:cNvSpPr>
          <p:nvPr>
            <p:ph type="sldNum" sz="quarter" idx="5"/>
          </p:nvPr>
        </p:nvSpPr>
        <p:spPr/>
        <p:txBody>
          <a:bodyPr/>
          <a:lstStyle/>
          <a:p>
            <a:fld id="{78E4A049-8685-4352-9DC2-828F08FD542B}" type="slidenum">
              <a:rPr lang="en-US" smtClean="0"/>
              <a:pPr/>
              <a:t>15</a:t>
            </a:fld>
            <a:endParaRPr lang="en-US"/>
          </a:p>
        </p:txBody>
      </p:sp>
    </p:spTree>
    <p:extLst>
      <p:ext uri="{BB962C8B-B14F-4D97-AF65-F5344CB8AC3E}">
        <p14:creationId xmlns:p14="http://schemas.microsoft.com/office/powerpoint/2010/main" val="21368598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these two observations, we can draw the conclusion that practitioners should measure their plastic tubes immediately before using them in a CTR. While this step may not be necessary for Nitinol, our evidence indicates that plastic tubes relax over time, fundamentally changing their geometry.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experiment also suggests that Nylon-12 does not behave elastically. If Nylon-12 were perfectly elastic, the tubes would not have experienced the gradual relaxation that they did. Instead, any relaxation should have occurred instantaneously. This distinction is important because the model widely used by CTR researchers to calculate CTR kinematics depends on the assumption that a CTR’s tubes are elastic. </a:t>
            </a:r>
            <a:r>
              <a:rPr lang="en-US" sz="1800" dirty="0">
                <a:effectLst/>
                <a:latin typeface="Calibri" panose="020F0502020204030204" pitchFamily="34" charset="0"/>
                <a:ea typeface="Calibri" panose="020F0502020204030204" pitchFamily="34" charset="0"/>
                <a:cs typeface="Times New Roman" panose="02020603050405020304" pitchFamily="18" charset="0"/>
              </a:rPr>
              <a:t>This discrepancy serves as the motivation for my second experiment…</a:t>
            </a:r>
          </a:p>
          <a:p>
            <a:endParaRPr lang="en-US" dirty="0"/>
          </a:p>
        </p:txBody>
      </p:sp>
      <p:sp>
        <p:nvSpPr>
          <p:cNvPr id="4" name="Slide Number Placeholder 3"/>
          <p:cNvSpPr>
            <a:spLocks noGrp="1"/>
          </p:cNvSpPr>
          <p:nvPr>
            <p:ph type="sldNum" sz="quarter" idx="5"/>
          </p:nvPr>
        </p:nvSpPr>
        <p:spPr/>
        <p:txBody>
          <a:bodyPr/>
          <a:lstStyle/>
          <a:p>
            <a:fld id="{78E4A049-8685-4352-9DC2-828F08FD542B}" type="slidenum">
              <a:rPr lang="en-US" smtClean="0"/>
              <a:pPr/>
              <a:t>16</a:t>
            </a:fld>
            <a:endParaRPr lang="en-US"/>
          </a:p>
        </p:txBody>
      </p:sp>
    </p:spTree>
    <p:extLst>
      <p:ext uri="{BB962C8B-B14F-4D97-AF65-F5344CB8AC3E}">
        <p14:creationId xmlns:p14="http://schemas.microsoft.com/office/powerpoint/2010/main" val="31987731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 which I sought to answer whether the elastic model for calculating equilibrium curvatures would work for Nylon-12 tubes.</a:t>
            </a:r>
          </a:p>
        </p:txBody>
      </p:sp>
      <p:sp>
        <p:nvSpPr>
          <p:cNvPr id="4" name="Slide Number Placeholder 3"/>
          <p:cNvSpPr>
            <a:spLocks noGrp="1"/>
          </p:cNvSpPr>
          <p:nvPr>
            <p:ph type="sldNum" sz="quarter" idx="5"/>
          </p:nvPr>
        </p:nvSpPr>
        <p:spPr/>
        <p:txBody>
          <a:bodyPr/>
          <a:lstStyle/>
          <a:p>
            <a:fld id="{78E4A049-8685-4352-9DC2-828F08FD542B}" type="slidenum">
              <a:rPr lang="en-US" smtClean="0"/>
              <a:pPr/>
              <a:t>17</a:t>
            </a:fld>
            <a:endParaRPr lang="en-US"/>
          </a:p>
        </p:txBody>
      </p:sp>
    </p:spTree>
    <p:extLst>
      <p:ext uri="{BB962C8B-B14F-4D97-AF65-F5344CB8AC3E}">
        <p14:creationId xmlns:p14="http://schemas.microsoft.com/office/powerpoint/2010/main" val="35252838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experiment, I produced five curved Nylon-12 tubes of diameter 2.64 mm, and inside those tubes I nested straight Nylon-12 tubes of diameter 1.98 mm. I measured the equilibrium curvatures at several time intervals in the ensuing 30 minutes before separating the tubes. I compared the measured curvatures with the ones predicted by the elastic model.</a:t>
            </a:r>
          </a:p>
        </p:txBody>
      </p:sp>
      <p:sp>
        <p:nvSpPr>
          <p:cNvPr id="4" name="Slide Number Placeholder 3"/>
          <p:cNvSpPr>
            <a:spLocks noGrp="1"/>
          </p:cNvSpPr>
          <p:nvPr>
            <p:ph type="sldNum" sz="quarter" idx="5"/>
          </p:nvPr>
        </p:nvSpPr>
        <p:spPr/>
        <p:txBody>
          <a:bodyPr/>
          <a:lstStyle/>
          <a:p>
            <a:fld id="{78E4A049-8685-4352-9DC2-828F08FD542B}" type="slidenum">
              <a:rPr lang="en-US" smtClean="0"/>
              <a:pPr/>
              <a:t>18</a:t>
            </a:fld>
            <a:endParaRPr lang="en-US"/>
          </a:p>
        </p:txBody>
      </p:sp>
    </p:spTree>
    <p:extLst>
      <p:ext uri="{BB962C8B-B14F-4D97-AF65-F5344CB8AC3E}">
        <p14:creationId xmlns:p14="http://schemas.microsoft.com/office/powerpoint/2010/main" val="28414478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show… &lt;something&gt;.</a:t>
            </a:r>
          </a:p>
        </p:txBody>
      </p:sp>
      <p:sp>
        <p:nvSpPr>
          <p:cNvPr id="4" name="Slide Number Placeholder 3"/>
          <p:cNvSpPr>
            <a:spLocks noGrp="1"/>
          </p:cNvSpPr>
          <p:nvPr>
            <p:ph type="sldNum" sz="quarter" idx="5"/>
          </p:nvPr>
        </p:nvSpPr>
        <p:spPr/>
        <p:txBody>
          <a:bodyPr/>
          <a:lstStyle/>
          <a:p>
            <a:fld id="{78E4A049-8685-4352-9DC2-828F08FD542B}" type="slidenum">
              <a:rPr lang="en-US" smtClean="0"/>
              <a:pPr/>
              <a:t>19</a:t>
            </a:fld>
            <a:endParaRPr lang="en-US"/>
          </a:p>
        </p:txBody>
      </p:sp>
    </p:spTree>
    <p:extLst>
      <p:ext uri="{BB962C8B-B14F-4D97-AF65-F5344CB8AC3E}">
        <p14:creationId xmlns:p14="http://schemas.microsoft.com/office/powerpoint/2010/main" val="10992941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experiment indicates that the elastic model fails to capture the behavior of Nylon-12 tubes. This led me to dig another step deeper and test the key assumptions researchers make about Nylon-12 tubes. Are the tubes truly elastic at low strains? When tubes return to their initial configuration after being deformed, do they do so instantly?</a:t>
            </a:r>
          </a:p>
        </p:txBody>
      </p:sp>
      <p:sp>
        <p:nvSpPr>
          <p:cNvPr id="4" name="Slide Number Placeholder 3"/>
          <p:cNvSpPr>
            <a:spLocks noGrp="1"/>
          </p:cNvSpPr>
          <p:nvPr>
            <p:ph type="sldNum" sz="quarter" idx="5"/>
          </p:nvPr>
        </p:nvSpPr>
        <p:spPr/>
        <p:txBody>
          <a:bodyPr/>
          <a:lstStyle/>
          <a:p>
            <a:fld id="{78E4A049-8685-4352-9DC2-828F08FD542B}" type="slidenum">
              <a:rPr lang="en-US" smtClean="0"/>
              <a:pPr/>
              <a:t>20</a:t>
            </a:fld>
            <a:endParaRPr lang="en-US"/>
          </a:p>
        </p:txBody>
      </p:sp>
    </p:spTree>
    <p:extLst>
      <p:ext uri="{BB962C8B-B14F-4D97-AF65-F5344CB8AC3E}">
        <p14:creationId xmlns:p14="http://schemas.microsoft.com/office/powerpoint/2010/main" val="22689879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these questions, I repeatedly straightened the 15 tubes I produced for the first experiment by pulling them into a steel tube and pushing them back out. I did this 30 times for each tube, pausing to measure the tube’s bending radius after every 5 straightening cycles. I also measured the curvatures three days after straightening the tubes. If the assumption that the tubes are elastic holds, then we should expect that the tubes’ curvatures do not change throughout the experiment.</a:t>
            </a:r>
          </a:p>
        </p:txBody>
      </p:sp>
      <p:sp>
        <p:nvSpPr>
          <p:cNvPr id="4" name="Slide Number Placeholder 3"/>
          <p:cNvSpPr>
            <a:spLocks noGrp="1"/>
          </p:cNvSpPr>
          <p:nvPr>
            <p:ph type="sldNum" sz="quarter" idx="5"/>
          </p:nvPr>
        </p:nvSpPr>
        <p:spPr/>
        <p:txBody>
          <a:bodyPr/>
          <a:lstStyle/>
          <a:p>
            <a:fld id="{78E4A049-8685-4352-9DC2-828F08FD542B}" type="slidenum">
              <a:rPr lang="en-US" smtClean="0"/>
              <a:pPr/>
              <a:t>21</a:t>
            </a:fld>
            <a:endParaRPr lang="en-US"/>
          </a:p>
        </p:txBody>
      </p:sp>
    </p:spTree>
    <p:extLst>
      <p:ext uri="{BB962C8B-B14F-4D97-AF65-F5344CB8AC3E}">
        <p14:creationId xmlns:p14="http://schemas.microsoft.com/office/powerpoint/2010/main" val="5061896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show… &lt;something&gt;.</a:t>
            </a:r>
          </a:p>
        </p:txBody>
      </p:sp>
      <p:sp>
        <p:nvSpPr>
          <p:cNvPr id="4" name="Slide Number Placeholder 3"/>
          <p:cNvSpPr>
            <a:spLocks noGrp="1"/>
          </p:cNvSpPr>
          <p:nvPr>
            <p:ph type="sldNum" sz="quarter" idx="5"/>
          </p:nvPr>
        </p:nvSpPr>
        <p:spPr/>
        <p:txBody>
          <a:bodyPr/>
          <a:lstStyle/>
          <a:p>
            <a:fld id="{78E4A049-8685-4352-9DC2-828F08FD542B}" type="slidenum">
              <a:rPr lang="en-US" smtClean="0"/>
              <a:pPr/>
              <a:t>22</a:t>
            </a:fld>
            <a:endParaRPr lang="en-US"/>
          </a:p>
        </p:txBody>
      </p:sp>
    </p:spTree>
    <p:extLst>
      <p:ext uri="{BB962C8B-B14F-4D97-AF65-F5344CB8AC3E}">
        <p14:creationId xmlns:p14="http://schemas.microsoft.com/office/powerpoint/2010/main" val="3301057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conclude from this experiment that the tubes do not behave as purely elastic materials, even at low strains. But the fact that they recover their curvatures shows that they don’t behave as purely plastic materials either. This suggests that the tubes are instead viscoelastic, with both deformation under a load and recovery after unloading being gradual rather than instantaneous. </a:t>
            </a:r>
          </a:p>
        </p:txBody>
      </p:sp>
      <p:sp>
        <p:nvSpPr>
          <p:cNvPr id="4" name="Slide Number Placeholder 3"/>
          <p:cNvSpPr>
            <a:spLocks noGrp="1"/>
          </p:cNvSpPr>
          <p:nvPr>
            <p:ph type="sldNum" sz="quarter" idx="5"/>
          </p:nvPr>
        </p:nvSpPr>
        <p:spPr/>
        <p:txBody>
          <a:bodyPr/>
          <a:lstStyle/>
          <a:p>
            <a:fld id="{78E4A049-8685-4352-9DC2-828F08FD542B}" type="slidenum">
              <a:rPr lang="en-US" smtClean="0"/>
              <a:pPr/>
              <a:t>23</a:t>
            </a:fld>
            <a:endParaRPr lang="en-US"/>
          </a:p>
        </p:txBody>
      </p:sp>
    </p:spTree>
    <p:extLst>
      <p:ext uri="{BB962C8B-B14F-4D97-AF65-F5344CB8AC3E}">
        <p14:creationId xmlns:p14="http://schemas.microsoft.com/office/powerpoint/2010/main" val="34216579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E4A049-8685-4352-9DC2-828F08FD542B}" type="slidenum">
              <a:rPr lang="en-US" smtClean="0"/>
              <a:pPr/>
              <a:t>24</a:t>
            </a:fld>
            <a:endParaRPr lang="en-US"/>
          </a:p>
        </p:txBody>
      </p:sp>
    </p:spTree>
    <p:extLst>
      <p:ext uri="{BB962C8B-B14F-4D97-AF65-F5344CB8AC3E}">
        <p14:creationId xmlns:p14="http://schemas.microsoft.com/office/powerpoint/2010/main" val="1908791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show… &lt;something&gt;.</a:t>
            </a:r>
          </a:p>
        </p:txBody>
      </p:sp>
      <p:sp>
        <p:nvSpPr>
          <p:cNvPr id="4" name="Slide Number Placeholder 3"/>
          <p:cNvSpPr>
            <a:spLocks noGrp="1"/>
          </p:cNvSpPr>
          <p:nvPr>
            <p:ph type="sldNum" sz="quarter" idx="5"/>
          </p:nvPr>
        </p:nvSpPr>
        <p:spPr/>
        <p:txBody>
          <a:bodyPr/>
          <a:lstStyle/>
          <a:p>
            <a:fld id="{78E4A049-8685-4352-9DC2-828F08FD542B}" type="slidenum">
              <a:rPr lang="en-US" smtClean="0"/>
              <a:pPr/>
              <a:t>25</a:t>
            </a:fld>
            <a:endParaRPr lang="en-US"/>
          </a:p>
        </p:txBody>
      </p:sp>
    </p:spTree>
    <p:extLst>
      <p:ext uri="{BB962C8B-B14F-4D97-AF65-F5344CB8AC3E}">
        <p14:creationId xmlns:p14="http://schemas.microsoft.com/office/powerpoint/2010/main" val="42038069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E4A049-8685-4352-9DC2-828F08FD542B}" type="slidenum">
              <a:rPr lang="en-US" smtClean="0"/>
              <a:pPr/>
              <a:t>26</a:t>
            </a:fld>
            <a:endParaRPr lang="en-US"/>
          </a:p>
        </p:txBody>
      </p:sp>
    </p:spTree>
    <p:extLst>
      <p:ext uri="{BB962C8B-B14F-4D97-AF65-F5344CB8AC3E}">
        <p14:creationId xmlns:p14="http://schemas.microsoft.com/office/powerpoint/2010/main" val="9350208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greyWatermark-20.png"/>
          <p:cNvPicPr>
            <a:picLocks noChangeAspect="1"/>
          </p:cNvPicPr>
          <p:nvPr userDrawn="1"/>
        </p:nvPicPr>
        <p:blipFill>
          <a:blip r:embed="rId2" cstate="print"/>
          <a:stretch>
            <a:fillRect/>
          </a:stretch>
        </p:blipFill>
        <p:spPr>
          <a:xfrm>
            <a:off x="7949092" y="2703302"/>
            <a:ext cx="4242908" cy="4154698"/>
          </a:xfrm>
          <a:prstGeom prst="rect">
            <a:avLst/>
          </a:prstGeom>
        </p:spPr>
      </p:pic>
      <p:sp>
        <p:nvSpPr>
          <p:cNvPr id="2" name="Title 1"/>
          <p:cNvSpPr>
            <a:spLocks noGrp="1"/>
          </p:cNvSpPr>
          <p:nvPr>
            <p:ph type="ctrTitle" hasCustomPrompt="1"/>
          </p:nvPr>
        </p:nvSpPr>
        <p:spPr>
          <a:xfrm>
            <a:off x="609600" y="2537925"/>
            <a:ext cx="9144000" cy="1524001"/>
          </a:xfrm>
        </p:spPr>
        <p:txBody>
          <a:bodyPr>
            <a:noAutofit/>
          </a:bodyPr>
          <a:lstStyle>
            <a:lvl1pPr>
              <a:defRPr sz="4000" b="1"/>
            </a:lvl1pPr>
          </a:lstStyle>
          <a:p>
            <a:r>
              <a:rPr lang="en-US" dirty="0"/>
              <a:t>Click to edit</a:t>
            </a:r>
            <a:br>
              <a:rPr lang="en-US" dirty="0"/>
            </a:br>
            <a:r>
              <a:rPr lang="en-US" dirty="0"/>
              <a:t>Master title style</a:t>
            </a:r>
          </a:p>
        </p:txBody>
      </p:sp>
      <p:sp>
        <p:nvSpPr>
          <p:cNvPr id="3" name="Subtitle 2"/>
          <p:cNvSpPr>
            <a:spLocks noGrp="1"/>
          </p:cNvSpPr>
          <p:nvPr>
            <p:ph type="subTitle" idx="1"/>
          </p:nvPr>
        </p:nvSpPr>
        <p:spPr>
          <a:xfrm>
            <a:off x="609600" y="4293573"/>
            <a:ext cx="9144000" cy="990600"/>
          </a:xfrm>
        </p:spPr>
        <p:txBody>
          <a:bodyPr anchor="t" anchorCtr="0">
            <a:normAutofit/>
          </a:bodyPr>
          <a:lstStyle>
            <a:lvl1pPr marL="0" indent="0" algn="l">
              <a:buNone/>
              <a:defRPr sz="2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3"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11200" y="990601"/>
            <a:ext cx="3383438" cy="10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cSld>
  <p:clrMapOvr>
    <a:masterClrMapping/>
  </p:clrMapOvr>
  <p:hf hdr="0" dt="0"/>
  <p:extLst>
    <p:ext uri="{DCECCB84-F9BA-43D5-87BE-67443E8EF086}">
      <p15:sldGuideLst xmlns:p15="http://schemas.microsoft.com/office/powerpoint/2012/main">
        <p15:guide id="1" pos="45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2">
    <p:bg>
      <p:bgPr>
        <a:solidFill>
          <a:srgbClr val="AB192D"/>
        </a:solidFill>
        <a:effectLst/>
      </p:bgPr>
    </p:bg>
    <p:spTree>
      <p:nvGrpSpPr>
        <p:cNvPr id="1" name=""/>
        <p:cNvGrpSpPr/>
        <p:nvPr/>
      </p:nvGrpSpPr>
      <p:grpSpPr>
        <a:xfrm>
          <a:off x="0" y="0"/>
          <a:ext cx="0" cy="0"/>
          <a:chOff x="0" y="0"/>
          <a:chExt cx="0" cy="0"/>
        </a:xfrm>
      </p:grpSpPr>
      <p:pic>
        <p:nvPicPr>
          <p:cNvPr id="9" name="Picture 4"/>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1200" y="990601"/>
            <a:ext cx="3383438" cy="11053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931182" y="2693986"/>
            <a:ext cx="4260818" cy="4172236"/>
          </a:xfrm>
          <a:prstGeom prst="rect">
            <a:avLst/>
          </a:prstGeom>
        </p:spPr>
      </p:pic>
      <p:sp>
        <p:nvSpPr>
          <p:cNvPr id="7" name="Title 1"/>
          <p:cNvSpPr>
            <a:spLocks noGrp="1"/>
          </p:cNvSpPr>
          <p:nvPr>
            <p:ph type="ctrTitle" hasCustomPrompt="1"/>
          </p:nvPr>
        </p:nvSpPr>
        <p:spPr>
          <a:xfrm>
            <a:off x="609600" y="2537925"/>
            <a:ext cx="9144000" cy="1524001"/>
          </a:xfrm>
        </p:spPr>
        <p:txBody>
          <a:bodyPr>
            <a:noAutofit/>
          </a:bodyPr>
          <a:lstStyle>
            <a:lvl1pPr>
              <a:defRPr sz="4000" b="1">
                <a:solidFill>
                  <a:schemeClr val="bg1"/>
                </a:solidFill>
              </a:defRPr>
            </a:lvl1pPr>
          </a:lstStyle>
          <a:p>
            <a:r>
              <a:rPr lang="en-US" dirty="0"/>
              <a:t>Click to edit</a:t>
            </a:r>
            <a:br>
              <a:rPr lang="en-US" dirty="0"/>
            </a:br>
            <a:r>
              <a:rPr lang="en-US" dirty="0"/>
              <a:t>Master title style</a:t>
            </a:r>
          </a:p>
        </p:txBody>
      </p:sp>
      <p:sp>
        <p:nvSpPr>
          <p:cNvPr id="10" name="Subtitle 2"/>
          <p:cNvSpPr>
            <a:spLocks noGrp="1"/>
          </p:cNvSpPr>
          <p:nvPr>
            <p:ph type="subTitle" idx="1"/>
          </p:nvPr>
        </p:nvSpPr>
        <p:spPr>
          <a:xfrm>
            <a:off x="609600" y="4293573"/>
            <a:ext cx="9144000" cy="990600"/>
          </a:xfrm>
        </p:spPr>
        <p:txBody>
          <a:bodyPr anchor="t" anchorCtr="0">
            <a:normAutofit/>
          </a:bodyPr>
          <a:lstStyle>
            <a:lvl1pPr marL="0" indent="0" algn="l">
              <a:buNone/>
              <a:defRPr sz="2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3163066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0"/>
            <a:ext cx="12192000" cy="1143000"/>
          </a:xfrm>
          <a:prstGeom prst="rect">
            <a:avLst/>
          </a:prstGeom>
          <a:solidFill>
            <a:schemeClr val="bg2"/>
          </a:solidFill>
          <a:ln>
            <a:noFill/>
          </a:ln>
          <a:effectLst>
            <a:innerShdw blurRad="215900" dist="76200" dir="5400000">
              <a:prstClr val="black">
                <a:alpha val="1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25475" y="1447800"/>
            <a:ext cx="9144000" cy="1676400"/>
          </a:xfrm>
        </p:spPr>
        <p:txBody>
          <a:bodyPr anchor="b" anchorCtr="0"/>
          <a:lstStyle>
            <a:lvl1pPr algn="l">
              <a:defRPr lang="en-US" sz="4000" b="1" kern="1200" dirty="0">
                <a:solidFill>
                  <a:schemeClr val="tx1">
                    <a:lumMod val="85000"/>
                    <a:lumOff val="15000"/>
                  </a:schemeClr>
                </a:solidFill>
                <a:latin typeface="Verdana" pitchFamily="34" charset="0"/>
                <a:ea typeface="Verdana" pitchFamily="34" charset="0"/>
                <a:cs typeface="Verdana" pitchFamily="34" charset="0"/>
              </a:defRPr>
            </a:lvl1pPr>
          </a:lstStyle>
          <a:p>
            <a:r>
              <a:rPr lang="en-US" dirty="0"/>
              <a:t>Click to edit Master title style</a:t>
            </a:r>
          </a:p>
        </p:txBody>
      </p:sp>
      <p:sp>
        <p:nvSpPr>
          <p:cNvPr id="3" name="Text Placeholder 2"/>
          <p:cNvSpPr>
            <a:spLocks noGrp="1"/>
          </p:cNvSpPr>
          <p:nvPr>
            <p:ph type="body" idx="1"/>
          </p:nvPr>
        </p:nvSpPr>
        <p:spPr>
          <a:xfrm>
            <a:off x="625475" y="3124200"/>
            <a:ext cx="9144000" cy="914400"/>
          </a:xfrm>
        </p:spPr>
        <p:txBody>
          <a:bodyPr anchor="t" anchorCtr="0">
            <a:normAutofit/>
          </a:bodyPr>
          <a:lstStyle>
            <a:lvl1pPr marL="0" indent="0">
              <a:buNone/>
              <a:defRPr sz="2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BFEBEB0A-9E3D-4B14-9782-E2AE3DA60D96}" type="slidenum">
              <a:rPr lang="en-US" smtClean="0"/>
              <a:pPr/>
              <a:t>‹#›</a:t>
            </a:fld>
            <a:endParaRPr lang="en-US"/>
          </a:p>
        </p:txBody>
      </p:sp>
      <p:sp>
        <p:nvSpPr>
          <p:cNvPr id="9" name="Footer Placeholder 2"/>
          <p:cNvSpPr>
            <a:spLocks noGrp="1"/>
          </p:cNvSpPr>
          <p:nvPr>
            <p:ph type="ftr" sz="quarter" idx="3"/>
          </p:nvPr>
        </p:nvSpPr>
        <p:spPr>
          <a:xfrm>
            <a:off x="625475" y="6400800"/>
            <a:ext cx="6807200" cy="304800"/>
          </a:xfrm>
          <a:prstGeom prst="rect">
            <a:avLst/>
          </a:prstGeom>
        </p:spPr>
        <p:txBody>
          <a:bodyPr/>
          <a:lstStyle>
            <a:lvl1pPr>
              <a:defRPr sz="1600" b="0">
                <a:solidFill>
                  <a:schemeClr val="tx2"/>
                </a:solidFill>
              </a:defRPr>
            </a:lvl1pPr>
          </a:lstStyle>
          <a:p>
            <a:endParaRPr lang="en-US" dirty="0"/>
          </a:p>
        </p:txBody>
      </p:sp>
      <p:pic>
        <p:nvPicPr>
          <p:cNvPr id="8" name="Picture 7" descr="greyWatermark-20.png"/>
          <p:cNvPicPr>
            <a:picLocks noChangeAspect="1"/>
          </p:cNvPicPr>
          <p:nvPr userDrawn="1"/>
        </p:nvPicPr>
        <p:blipFill>
          <a:blip r:embed="rId2" cstate="print"/>
          <a:stretch>
            <a:fillRect/>
          </a:stretch>
        </p:blipFill>
        <p:spPr>
          <a:xfrm>
            <a:off x="7949092" y="2703302"/>
            <a:ext cx="4242908" cy="4154698"/>
          </a:xfrm>
          <a:prstGeom prst="rect">
            <a:avLst/>
          </a:prstGeom>
        </p:spPr>
      </p:pic>
    </p:spTree>
  </p:cSld>
  <p:clrMapOvr>
    <a:masterClrMapping/>
  </p:clrMapOvr>
  <p:hf hdr="0" dt="0"/>
  <p:extLst>
    <p:ext uri="{DCECCB84-F9BA-43D5-87BE-67443E8EF086}">
      <p15:sldGuideLst xmlns:p15="http://schemas.microsoft.com/office/powerpoint/2012/main">
        <p15:guide id="1" pos="45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dirty="0"/>
          </a:p>
        </p:txBody>
      </p:sp>
      <p:sp>
        <p:nvSpPr>
          <p:cNvPr id="14" name="Rectangle 6"/>
          <p:cNvSpPr>
            <a:spLocks noGrp="1"/>
          </p:cNvSpPr>
          <p:nvPr>
            <p:ph idx="1"/>
          </p:nvPr>
        </p:nvSpPr>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dirty="0"/>
          </a:p>
        </p:txBody>
      </p:sp>
      <p:sp>
        <p:nvSpPr>
          <p:cNvPr id="27" name="Rectangle 19"/>
          <p:cNvSpPr>
            <a:spLocks noGrp="1"/>
          </p:cNvSpPr>
          <p:nvPr>
            <p:ph type="ftr" sz="quarter" idx="11"/>
          </p:nvPr>
        </p:nvSpPr>
        <p:spPr/>
        <p:txBody>
          <a:bodyPr/>
          <a:lstStyle/>
          <a:p>
            <a:endParaRPr lang="en-US" dirty="0"/>
          </a:p>
        </p:txBody>
      </p:sp>
      <p:sp>
        <p:nvSpPr>
          <p:cNvPr id="24" name="Rectangle 26"/>
          <p:cNvSpPr>
            <a:spLocks noGrp="1"/>
          </p:cNvSpPr>
          <p:nvPr>
            <p:ph type="sldNum" sz="quarter" idx="12"/>
          </p:nvPr>
        </p:nvSpPr>
        <p:spPr/>
        <p:txBody>
          <a:bodyPr/>
          <a:lstStyle/>
          <a:p>
            <a:fld id="{963B0023-0CED-47F7-85AE-654F0B232C29}" type="slidenum">
              <a:rPr lang="en-US" smtClean="0"/>
              <a:pPr/>
              <a:t>‹#›</a:t>
            </a:fld>
            <a:endParaRPr lang="en-US" dirty="0"/>
          </a:p>
        </p:txBody>
      </p:sp>
    </p:spTree>
    <p:extLst>
      <p:ext uri="{BB962C8B-B14F-4D97-AF65-F5344CB8AC3E}">
        <p14:creationId xmlns:p14="http://schemas.microsoft.com/office/powerpoint/2010/main" val="4115709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16000" y="1676400"/>
            <a:ext cx="4876800" cy="4495800"/>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6400"/>
            <a:ext cx="4876800" cy="4495800"/>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BFEBEB0A-9E3D-4B14-9782-E2AE3DA60D96}" type="slidenum">
              <a:rPr lang="en-US" smtClean="0"/>
              <a:pPr/>
              <a:t>‹#›</a:t>
            </a:fld>
            <a:endParaRPr lang="en-US" dirty="0"/>
          </a:p>
        </p:txBody>
      </p:sp>
      <p:sp>
        <p:nvSpPr>
          <p:cNvPr id="6" name="Rectangle 19"/>
          <p:cNvSpPr>
            <a:spLocks noGrp="1"/>
          </p:cNvSpPr>
          <p:nvPr>
            <p:ph type="ftr" sz="quarter" idx="11"/>
          </p:nvPr>
        </p:nvSpPr>
        <p:spPr>
          <a:xfrm>
            <a:off x="609600" y="6400800"/>
            <a:ext cx="6807200" cy="304800"/>
          </a:xfrm>
        </p:spPr>
        <p:txBody>
          <a:bodyPr/>
          <a:lstStyle/>
          <a:p>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16000" y="1496736"/>
            <a:ext cx="4876800" cy="639762"/>
          </a:xfrm>
        </p:spPr>
        <p:txBody>
          <a:bodyPr anchor="b">
            <a:noAutofit/>
          </a:bodyPr>
          <a:lstStyle>
            <a:lvl1pPr marL="0" indent="0">
              <a:buNone/>
              <a:defRPr sz="2000" b="1">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16000" y="2216400"/>
            <a:ext cx="4876800" cy="3955800"/>
          </a:xfrm>
        </p:spPr>
        <p:txBody>
          <a:bodyPr anchor="t" anchorCtr="0">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7600" y="1496736"/>
            <a:ext cx="4876800" cy="639762"/>
          </a:xfrm>
        </p:spPr>
        <p:txBody>
          <a:bodyPr anchor="b">
            <a:noAutofit/>
          </a:bodyPr>
          <a:lstStyle>
            <a:lvl1pPr marL="0" indent="0">
              <a:buNone/>
              <a:defRPr sz="2000" b="1">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7600" y="2216400"/>
            <a:ext cx="4876800" cy="3955800"/>
          </a:xfrm>
        </p:spPr>
        <p:txBody>
          <a:bodyPr anchor="t" anchorCtr="0">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BFEBEB0A-9E3D-4B14-9782-E2AE3DA60D96}" type="slidenum">
              <a:rPr lang="en-US" smtClean="0"/>
              <a:pPr/>
              <a:t>‹#›</a:t>
            </a:fld>
            <a:endParaRPr lang="en-US"/>
          </a:p>
        </p:txBody>
      </p:sp>
      <p:sp>
        <p:nvSpPr>
          <p:cNvPr id="8" name="Rectangle 19"/>
          <p:cNvSpPr>
            <a:spLocks noGrp="1"/>
          </p:cNvSpPr>
          <p:nvPr>
            <p:ph type="ftr" sz="quarter" idx="11"/>
          </p:nvPr>
        </p:nvSpPr>
        <p:spPr>
          <a:xfrm>
            <a:off x="609600" y="6400800"/>
            <a:ext cx="6807200" cy="304800"/>
          </a:xfrm>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BFEBEB0A-9E3D-4B14-9782-E2AE3DA60D96}" type="slidenum">
              <a:rPr lang="en-US" smtClean="0"/>
              <a:pPr/>
              <a:t>‹#›</a:t>
            </a:fld>
            <a:endParaRPr lang="en-US" dirty="0"/>
          </a:p>
        </p:txBody>
      </p:sp>
      <p:sp>
        <p:nvSpPr>
          <p:cNvPr id="4" name="Rectangle 19"/>
          <p:cNvSpPr>
            <a:spLocks noGrp="1"/>
          </p:cNvSpPr>
          <p:nvPr>
            <p:ph type="ftr" sz="quarter" idx="11"/>
          </p:nvPr>
        </p:nvSpPr>
        <p:spPr>
          <a:xfrm>
            <a:off x="609600" y="6400800"/>
            <a:ext cx="6807200" cy="304800"/>
          </a:xfrm>
        </p:spPr>
        <p:txBody>
          <a:bodyPr/>
          <a:lstStyle/>
          <a:p>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 y="6391657"/>
            <a:ext cx="612396" cy="365125"/>
          </a:xfrm>
        </p:spPr>
        <p:txBody>
          <a:bodyPr/>
          <a:lstStyle/>
          <a:p>
            <a:fld id="{BFEBEB0A-9E3D-4B14-9782-E2AE3DA60D96}" type="slidenum">
              <a:rPr lang="en-US" smtClean="0"/>
              <a:pPr/>
              <a:t>‹#›</a:t>
            </a:fld>
            <a:endParaRPr lang="en-US" dirty="0"/>
          </a:p>
        </p:txBody>
      </p:sp>
      <p:sp>
        <p:nvSpPr>
          <p:cNvPr id="3" name="Rectangle 19"/>
          <p:cNvSpPr>
            <a:spLocks noGrp="1"/>
          </p:cNvSpPr>
          <p:nvPr>
            <p:ph type="ftr" sz="quarter" idx="11"/>
          </p:nvPr>
        </p:nvSpPr>
        <p:spPr>
          <a:xfrm>
            <a:off x="609600" y="6400800"/>
            <a:ext cx="6807200" cy="304800"/>
          </a:xfrm>
        </p:spPr>
        <p:txBody>
          <a:bodyPr/>
          <a:lstStyle/>
          <a:p>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
            <a:ext cx="11074400" cy="1066800"/>
          </a:xfrm>
        </p:spPr>
        <p:txBody>
          <a:bodyPr anchor="b">
            <a:normAutofit/>
          </a:bodyPr>
          <a:lstStyle>
            <a:lvl1pPr algn="l">
              <a:defRPr sz="3200" b="1"/>
            </a:lvl1pPr>
          </a:lstStyle>
          <a:p>
            <a:r>
              <a:rPr lang="en-US"/>
              <a:t>Click to edit Master title style</a:t>
            </a:r>
            <a:endParaRPr lang="en-US" dirty="0"/>
          </a:p>
        </p:txBody>
      </p:sp>
      <p:sp>
        <p:nvSpPr>
          <p:cNvPr id="3" name="Content Placeholder 2"/>
          <p:cNvSpPr>
            <a:spLocks noGrp="1"/>
          </p:cNvSpPr>
          <p:nvPr>
            <p:ph idx="1"/>
          </p:nvPr>
        </p:nvSpPr>
        <p:spPr>
          <a:xfrm>
            <a:off x="4523709" y="1524001"/>
            <a:ext cx="7058691" cy="4648199"/>
          </a:xfrm>
        </p:spPr>
        <p:txBody>
          <a:bodyP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1890" y="1524000"/>
            <a:ext cx="3564876" cy="4648200"/>
          </a:xfrm>
        </p:spPr>
        <p:txBody>
          <a:bodyPr>
            <a:normAutofit/>
          </a:bodyPr>
          <a:lstStyle>
            <a:lvl1pPr marL="0" indent="0">
              <a:buNone/>
              <a:defRPr sz="20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BFEBEB0A-9E3D-4B14-9782-E2AE3DA60D96}" type="slidenum">
              <a:rPr lang="en-US" smtClean="0"/>
              <a:pPr/>
              <a:t>‹#›</a:t>
            </a:fld>
            <a:endParaRPr lang="en-US"/>
          </a:p>
        </p:txBody>
      </p:sp>
      <p:cxnSp>
        <p:nvCxnSpPr>
          <p:cNvPr id="10" name="Straight Connector 9"/>
          <p:cNvCxnSpPr/>
          <p:nvPr/>
        </p:nvCxnSpPr>
        <p:spPr>
          <a:xfrm rot="5400000">
            <a:off x="2447147" y="3581135"/>
            <a:ext cx="3810000" cy="2117"/>
          </a:xfrm>
          <a:prstGeom prst="line">
            <a:avLst/>
          </a:prstGeom>
          <a:ln>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19"/>
          <p:cNvSpPr>
            <a:spLocks noGrp="1"/>
          </p:cNvSpPr>
          <p:nvPr>
            <p:ph type="ftr" sz="quarter" idx="11"/>
          </p:nvPr>
        </p:nvSpPr>
        <p:spPr>
          <a:xfrm>
            <a:off x="609600" y="6400800"/>
            <a:ext cx="6807200" cy="304800"/>
          </a:xfrm>
        </p:spPr>
        <p:txBody>
          <a:bodyPr/>
          <a:lstStyle/>
          <a:p>
            <a:endParaRPr lang="en-US" dirty="0"/>
          </a:p>
        </p:txBody>
      </p:sp>
    </p:spTree>
    <p:extLst>
      <p:ext uri="{BB962C8B-B14F-4D97-AF65-F5344CB8AC3E}">
        <p14:creationId xmlns:p14="http://schemas.microsoft.com/office/powerpoint/2010/main" val="2935338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BFEBEB0A-9E3D-4B14-9782-E2AE3DA60D96}" type="slidenum">
              <a:rPr lang="en-US" smtClean="0"/>
              <a:pPr/>
              <a:t>‹#›</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6" name="Picture Placeholder 5"/>
          <p:cNvSpPr>
            <a:spLocks noGrp="1"/>
          </p:cNvSpPr>
          <p:nvPr>
            <p:ph type="pic" sz="quarter" idx="12"/>
          </p:nvPr>
        </p:nvSpPr>
        <p:spPr>
          <a:xfrm>
            <a:off x="609600" y="1524000"/>
            <a:ext cx="7823200" cy="4648200"/>
          </a:xfrm>
        </p:spPr>
        <p:txBody>
          <a:bodyPr/>
          <a:lstStyle/>
          <a:p>
            <a:r>
              <a:rPr lang="en-US"/>
              <a:t>Click icon to add picture</a:t>
            </a:r>
          </a:p>
        </p:txBody>
      </p:sp>
      <p:sp>
        <p:nvSpPr>
          <p:cNvPr id="8" name="Text Placeholder 7"/>
          <p:cNvSpPr>
            <a:spLocks noGrp="1"/>
          </p:cNvSpPr>
          <p:nvPr>
            <p:ph type="body" sz="quarter" idx="13"/>
          </p:nvPr>
        </p:nvSpPr>
        <p:spPr>
          <a:xfrm>
            <a:off x="8737600" y="1524000"/>
            <a:ext cx="2844800" cy="4648200"/>
          </a:xfrm>
        </p:spPr>
        <p:txBody>
          <a:bodyPr>
            <a:normAutofit/>
          </a:bodyPr>
          <a:lstStyle>
            <a:lvl1pPr marL="0" indent="0">
              <a:buFontTx/>
              <a:buNone/>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72493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lankRed">
    <p:bg>
      <p:bgPr>
        <a:solidFill>
          <a:schemeClr val="bg2"/>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66131" y="1066834"/>
            <a:ext cx="4459738" cy="4428034"/>
          </a:xfrm>
          <a:prstGeom prst="rect">
            <a:avLst/>
          </a:prstGeom>
        </p:spPr>
      </p:pic>
    </p:spTree>
    <p:extLst>
      <p:ext uri="{BB962C8B-B14F-4D97-AF65-F5344CB8AC3E}">
        <p14:creationId xmlns:p14="http://schemas.microsoft.com/office/powerpoint/2010/main" val="9432590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9" name="Title 1"/>
          <p:cNvSpPr>
            <a:spLocks noGrp="1"/>
          </p:cNvSpPr>
          <p:nvPr>
            <p:ph type="ctrTitle"/>
          </p:nvPr>
        </p:nvSpPr>
        <p:spPr>
          <a:xfrm>
            <a:off x="609600" y="2286000"/>
            <a:ext cx="9144000" cy="1524000"/>
          </a:xfrm>
        </p:spPr>
        <p:txBody>
          <a:bodyPr>
            <a:noAutofit/>
          </a:bodyPr>
          <a:lstStyle>
            <a:lvl1pPr>
              <a:defRPr sz="4000">
                <a:solidFill>
                  <a:schemeClr val="tx1"/>
                </a:solidFill>
              </a:defRPr>
            </a:lvl1pPr>
          </a:lstStyle>
          <a:p>
            <a:r>
              <a:rPr lang="en-US" dirty="0"/>
              <a:t>Click to edit Master title style</a:t>
            </a:r>
          </a:p>
        </p:txBody>
      </p:sp>
      <p:sp>
        <p:nvSpPr>
          <p:cNvPr id="11" name="Subtitle 2"/>
          <p:cNvSpPr>
            <a:spLocks noGrp="1"/>
          </p:cNvSpPr>
          <p:nvPr>
            <p:ph type="subTitle" idx="1"/>
          </p:nvPr>
        </p:nvSpPr>
        <p:spPr>
          <a:xfrm>
            <a:off x="609600" y="4041648"/>
            <a:ext cx="9144000" cy="990600"/>
          </a:xfrm>
        </p:spPr>
        <p:txBody>
          <a:bodyPr anchor="t" anchorCtr="0">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12" name="Picture 4"/>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1200" y="990601"/>
            <a:ext cx="3383438" cy="11053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931182" y="2693986"/>
            <a:ext cx="4260818" cy="4172236"/>
          </a:xfrm>
          <a:prstGeom prst="rect">
            <a:avLst/>
          </a:prstGeom>
        </p:spPr>
      </p:pic>
    </p:spTree>
    <p:extLst>
      <p:ext uri="{BB962C8B-B14F-4D97-AF65-F5344CB8AC3E}">
        <p14:creationId xmlns:p14="http://schemas.microsoft.com/office/powerpoint/2010/main" val="38060641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2">
    <p:bg>
      <p:bgPr>
        <a:solidFill>
          <a:schemeClr val="accent1"/>
        </a:solidFill>
        <a:effectLst/>
      </p:bgPr>
    </p:bg>
    <p:spTree>
      <p:nvGrpSpPr>
        <p:cNvPr id="1" name=""/>
        <p:cNvGrpSpPr/>
        <p:nvPr/>
      </p:nvGrpSpPr>
      <p:grpSpPr>
        <a:xfrm>
          <a:off x="0" y="0"/>
          <a:ext cx="0" cy="0"/>
          <a:chOff x="0" y="0"/>
          <a:chExt cx="0" cy="0"/>
        </a:xfrm>
      </p:grpSpPr>
      <p:sp>
        <p:nvSpPr>
          <p:cNvPr id="12" name="Title 1"/>
          <p:cNvSpPr>
            <a:spLocks noGrp="1"/>
          </p:cNvSpPr>
          <p:nvPr>
            <p:ph type="ctrTitle"/>
          </p:nvPr>
        </p:nvSpPr>
        <p:spPr>
          <a:xfrm>
            <a:off x="609600" y="2286000"/>
            <a:ext cx="9144000" cy="1524000"/>
          </a:xfrm>
        </p:spPr>
        <p:txBody>
          <a:bodyPr>
            <a:noAutofit/>
          </a:bodyPr>
          <a:lstStyle>
            <a:lvl1pPr>
              <a:defRPr sz="4000">
                <a:solidFill>
                  <a:schemeClr val="tx1"/>
                </a:solidFill>
              </a:defRPr>
            </a:lvl1pPr>
          </a:lstStyle>
          <a:p>
            <a:r>
              <a:rPr lang="en-US" dirty="0"/>
              <a:t>Click to edit Master title style</a:t>
            </a:r>
          </a:p>
        </p:txBody>
      </p:sp>
      <p:sp>
        <p:nvSpPr>
          <p:cNvPr id="13" name="Subtitle 2"/>
          <p:cNvSpPr>
            <a:spLocks noGrp="1"/>
          </p:cNvSpPr>
          <p:nvPr>
            <p:ph type="subTitle" idx="1"/>
          </p:nvPr>
        </p:nvSpPr>
        <p:spPr>
          <a:xfrm>
            <a:off x="609600" y="4041648"/>
            <a:ext cx="9144000" cy="990600"/>
          </a:xfrm>
        </p:spPr>
        <p:txBody>
          <a:bodyPr anchor="t" anchorCtr="0">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14" name="Picture 4"/>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1200" y="990601"/>
            <a:ext cx="3383438" cy="11053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5" name="Picture 1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931182" y="2693986"/>
            <a:ext cx="4260818" cy="4172236"/>
          </a:xfrm>
          <a:prstGeom prst="rect">
            <a:avLst/>
          </a:prstGeom>
        </p:spPr>
      </p:pic>
    </p:spTree>
    <p:extLst>
      <p:ext uri="{BB962C8B-B14F-4D97-AF65-F5344CB8AC3E}">
        <p14:creationId xmlns:p14="http://schemas.microsoft.com/office/powerpoint/2010/main" val="30171596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tx1"/>
                </a:solidFill>
              </a:defRPr>
            </a:lvl1pPr>
          </a:lstStyle>
          <a:p>
            <a:fld id="{BFEBEB0A-9E3D-4B14-9782-E2AE3DA60D96}" type="slidenum">
              <a:rPr lang="en-US" smtClean="0"/>
              <a:pPr/>
              <a:t>‹#›</a:t>
            </a:fld>
            <a:endParaRPr lang="en-US"/>
          </a:p>
        </p:txBody>
      </p:sp>
      <p:sp>
        <p:nvSpPr>
          <p:cNvPr id="8" name="Footer Placeholder 2"/>
          <p:cNvSpPr>
            <a:spLocks noGrp="1"/>
          </p:cNvSpPr>
          <p:nvPr>
            <p:ph type="ftr" sz="quarter" idx="3"/>
          </p:nvPr>
        </p:nvSpPr>
        <p:spPr>
          <a:xfrm>
            <a:off x="609600" y="6400800"/>
            <a:ext cx="6807200" cy="304800"/>
          </a:xfrm>
          <a:prstGeom prst="rect">
            <a:avLst/>
          </a:prstGeom>
        </p:spPr>
        <p:txBody>
          <a:bodyPr/>
          <a:lstStyle>
            <a:lvl1pPr>
              <a:defRPr sz="1600" b="0">
                <a:solidFill>
                  <a:schemeClr val="tx1"/>
                </a:solidFill>
              </a:defRPr>
            </a:lvl1pPr>
          </a:lstStyle>
          <a:p>
            <a:endParaRPr lang="en-US" dirty="0"/>
          </a:p>
        </p:txBody>
      </p:sp>
      <p:sp>
        <p:nvSpPr>
          <p:cNvPr id="7" name="Title 1"/>
          <p:cNvSpPr>
            <a:spLocks noGrp="1"/>
          </p:cNvSpPr>
          <p:nvPr>
            <p:ph type="ctrTitle"/>
          </p:nvPr>
        </p:nvSpPr>
        <p:spPr>
          <a:xfrm>
            <a:off x="609600" y="2286000"/>
            <a:ext cx="9144000" cy="1524000"/>
          </a:xfrm>
        </p:spPr>
        <p:txBody>
          <a:bodyPr>
            <a:noAutofit/>
          </a:bodyPr>
          <a:lstStyle>
            <a:lvl1pPr>
              <a:defRPr sz="4000">
                <a:solidFill>
                  <a:schemeClr val="tx1"/>
                </a:solidFill>
              </a:defRPr>
            </a:lvl1pPr>
          </a:lstStyle>
          <a:p>
            <a:r>
              <a:rPr lang="en-US" dirty="0"/>
              <a:t>Click to edit Master title style</a:t>
            </a:r>
          </a:p>
        </p:txBody>
      </p:sp>
      <p:sp>
        <p:nvSpPr>
          <p:cNvPr id="9" name="Subtitle 2"/>
          <p:cNvSpPr>
            <a:spLocks noGrp="1"/>
          </p:cNvSpPr>
          <p:nvPr>
            <p:ph type="subTitle" idx="1"/>
          </p:nvPr>
        </p:nvSpPr>
        <p:spPr>
          <a:xfrm>
            <a:off x="609600" y="4041648"/>
            <a:ext cx="9144000" cy="990600"/>
          </a:xfrm>
        </p:spPr>
        <p:txBody>
          <a:bodyPr anchor="t" anchorCtr="0">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11" name="Picture 4"/>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1200" y="990601"/>
            <a:ext cx="3383438" cy="11053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931182" y="2693986"/>
            <a:ext cx="4260818" cy="4172236"/>
          </a:xfrm>
          <a:prstGeom prst="rect">
            <a:avLst/>
          </a:prstGeom>
        </p:spPr>
      </p:pic>
    </p:spTree>
    <p:extLst>
      <p:ext uri="{BB962C8B-B14F-4D97-AF65-F5344CB8AC3E}">
        <p14:creationId xmlns:p14="http://schemas.microsoft.com/office/powerpoint/2010/main" val="1623213315"/>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dirty="0"/>
          </a:p>
        </p:txBody>
      </p:sp>
      <p:sp>
        <p:nvSpPr>
          <p:cNvPr id="14" name="Rectangle 6"/>
          <p:cNvSpPr>
            <a:spLocks noGrp="1"/>
          </p:cNvSpPr>
          <p:nvPr>
            <p:ph idx="1"/>
          </p:nvPr>
        </p:nvSpPr>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a:p>
        </p:txBody>
      </p:sp>
      <p:sp>
        <p:nvSpPr>
          <p:cNvPr id="27" name="Rectangle 19"/>
          <p:cNvSpPr>
            <a:spLocks noGrp="1"/>
          </p:cNvSpPr>
          <p:nvPr>
            <p:ph type="ftr" sz="quarter" idx="11"/>
          </p:nvPr>
        </p:nvSpPr>
        <p:spPr/>
        <p:txBody>
          <a:bodyPr/>
          <a:lstStyle/>
          <a:p>
            <a:endParaRPr lang="en-US" dirty="0"/>
          </a:p>
        </p:txBody>
      </p:sp>
      <p:sp>
        <p:nvSpPr>
          <p:cNvPr id="24" name="Rectangle 26"/>
          <p:cNvSpPr>
            <a:spLocks noGrp="1"/>
          </p:cNvSpPr>
          <p:nvPr>
            <p:ph type="sldNum" sz="quarter" idx="12"/>
          </p:nvPr>
        </p:nvSpPr>
        <p:spPr/>
        <p:txBody>
          <a:bodyPr/>
          <a:lstStyle/>
          <a:p>
            <a:fld id="{963B0023-0CED-47F7-85AE-654F0B232C29}" type="slidenum">
              <a:rPr lang="en-US" smtClean="0"/>
              <a:pPr/>
              <a:t>‹#›</a:t>
            </a:fld>
            <a:endParaRPr lang="en-US" dirty="0"/>
          </a:p>
        </p:txBody>
      </p:sp>
    </p:spTree>
    <p:extLst>
      <p:ext uri="{BB962C8B-B14F-4D97-AF65-F5344CB8AC3E}">
        <p14:creationId xmlns:p14="http://schemas.microsoft.com/office/powerpoint/2010/main" val="39733704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016000" y="1676400"/>
            <a:ext cx="4876800" cy="4495800"/>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76400"/>
            <a:ext cx="4876800" cy="4495800"/>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BFEBEB0A-9E3D-4B14-9782-E2AE3DA60D96}" type="slidenum">
              <a:rPr lang="en-US" smtClean="0"/>
              <a:pPr/>
              <a:t>‹#›</a:t>
            </a:fld>
            <a:endParaRPr lang="en-US"/>
          </a:p>
        </p:txBody>
      </p:sp>
      <p:sp>
        <p:nvSpPr>
          <p:cNvPr id="6" name="Rectangle 19"/>
          <p:cNvSpPr>
            <a:spLocks noGrp="1"/>
          </p:cNvSpPr>
          <p:nvPr>
            <p:ph type="ftr" sz="quarter" idx="11"/>
          </p:nvPr>
        </p:nvSpPr>
        <p:spPr>
          <a:xfrm>
            <a:off x="609600" y="6400800"/>
            <a:ext cx="6807200" cy="304800"/>
          </a:xfrm>
        </p:spPr>
        <p:txBody>
          <a:bodyPr/>
          <a:lstStyle/>
          <a:p>
            <a:endParaRPr lang="en-US" dirty="0"/>
          </a:p>
        </p:txBody>
      </p:sp>
    </p:spTree>
    <p:extLst>
      <p:ext uri="{BB962C8B-B14F-4D97-AF65-F5344CB8AC3E}">
        <p14:creationId xmlns:p14="http://schemas.microsoft.com/office/powerpoint/2010/main" val="32454945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16000" y="1496736"/>
            <a:ext cx="4876800" cy="639762"/>
          </a:xfrm>
        </p:spPr>
        <p:txBody>
          <a:bodyPr anchor="b">
            <a:noAutofit/>
          </a:bodyPr>
          <a:lstStyle>
            <a:lvl1pPr marL="0" indent="0">
              <a:buNone/>
              <a:defRPr sz="2000" b="1">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16000" y="2216400"/>
            <a:ext cx="4876800" cy="3955800"/>
          </a:xfrm>
        </p:spPr>
        <p:txBody>
          <a:bodyPr anchor="t" anchorCtr="0">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7600" y="1496736"/>
            <a:ext cx="4876800" cy="639762"/>
          </a:xfrm>
        </p:spPr>
        <p:txBody>
          <a:bodyPr anchor="b">
            <a:noAutofit/>
          </a:bodyPr>
          <a:lstStyle>
            <a:lvl1pPr marL="0" indent="0">
              <a:buNone/>
              <a:defRPr sz="2000" b="1">
                <a:solidFill>
                  <a:schemeClr val="bg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7600" y="2216400"/>
            <a:ext cx="4876800" cy="3955800"/>
          </a:xfrm>
        </p:spPr>
        <p:txBody>
          <a:bodyPr anchor="t" anchorCtr="0">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BFEBEB0A-9E3D-4B14-9782-E2AE3DA60D96}" type="slidenum">
              <a:rPr lang="en-US" smtClean="0"/>
              <a:pPr/>
              <a:t>‹#›</a:t>
            </a:fld>
            <a:endParaRPr lang="en-US"/>
          </a:p>
        </p:txBody>
      </p:sp>
      <p:sp>
        <p:nvSpPr>
          <p:cNvPr id="8" name="Rectangle 19"/>
          <p:cNvSpPr>
            <a:spLocks noGrp="1"/>
          </p:cNvSpPr>
          <p:nvPr>
            <p:ph type="ftr" sz="quarter" idx="11"/>
          </p:nvPr>
        </p:nvSpPr>
        <p:spPr>
          <a:xfrm>
            <a:off x="609600" y="6400800"/>
            <a:ext cx="6807200" cy="304800"/>
          </a:xfrm>
        </p:spPr>
        <p:txBody>
          <a:bodyPr/>
          <a:lstStyle/>
          <a:p>
            <a:endParaRPr lang="en-US" dirty="0"/>
          </a:p>
        </p:txBody>
      </p:sp>
    </p:spTree>
    <p:extLst>
      <p:ext uri="{BB962C8B-B14F-4D97-AF65-F5344CB8AC3E}">
        <p14:creationId xmlns:p14="http://schemas.microsoft.com/office/powerpoint/2010/main" val="9920204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BFEBEB0A-9E3D-4B14-9782-E2AE3DA60D96}" type="slidenum">
              <a:rPr lang="en-US" smtClean="0"/>
              <a:pPr/>
              <a:t>‹#›</a:t>
            </a:fld>
            <a:endParaRPr lang="en-US"/>
          </a:p>
        </p:txBody>
      </p:sp>
      <p:sp>
        <p:nvSpPr>
          <p:cNvPr id="4" name="Rectangle 19"/>
          <p:cNvSpPr>
            <a:spLocks noGrp="1"/>
          </p:cNvSpPr>
          <p:nvPr>
            <p:ph type="ftr" sz="quarter" idx="11"/>
          </p:nvPr>
        </p:nvSpPr>
        <p:spPr>
          <a:xfrm>
            <a:off x="609600" y="6400800"/>
            <a:ext cx="6807200" cy="304800"/>
          </a:xfrm>
        </p:spPr>
        <p:txBody>
          <a:bodyPr/>
          <a:lstStyle/>
          <a:p>
            <a:endParaRPr lang="en-US" dirty="0"/>
          </a:p>
        </p:txBody>
      </p:sp>
    </p:spTree>
    <p:extLst>
      <p:ext uri="{BB962C8B-B14F-4D97-AF65-F5344CB8AC3E}">
        <p14:creationId xmlns:p14="http://schemas.microsoft.com/office/powerpoint/2010/main" val="2807416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2795" y="6391657"/>
            <a:ext cx="612396" cy="365125"/>
          </a:xfrm>
        </p:spPr>
        <p:txBody>
          <a:bodyPr/>
          <a:lstStyle>
            <a:lvl1pPr>
              <a:defRPr>
                <a:solidFill>
                  <a:schemeClr val="tx1"/>
                </a:solidFill>
              </a:defRPr>
            </a:lvl1pPr>
          </a:lstStyle>
          <a:p>
            <a:fld id="{BFEBEB0A-9E3D-4B14-9782-E2AE3DA60D96}" type="slidenum">
              <a:rPr lang="en-US" smtClean="0"/>
              <a:pPr/>
              <a:t>‹#›</a:t>
            </a:fld>
            <a:endParaRPr lang="en-US" dirty="0"/>
          </a:p>
        </p:txBody>
      </p:sp>
      <p:sp>
        <p:nvSpPr>
          <p:cNvPr id="3" name="Rectangle 19"/>
          <p:cNvSpPr>
            <a:spLocks noGrp="1"/>
          </p:cNvSpPr>
          <p:nvPr>
            <p:ph type="ftr" sz="quarter" idx="11"/>
          </p:nvPr>
        </p:nvSpPr>
        <p:spPr>
          <a:xfrm>
            <a:off x="609600" y="6400800"/>
            <a:ext cx="6807200" cy="304800"/>
          </a:xfrm>
        </p:spPr>
        <p:txBody>
          <a:bodyPr/>
          <a:lstStyle>
            <a:lvl1pPr>
              <a:defRPr>
                <a:solidFill>
                  <a:schemeClr val="tx1"/>
                </a:solidFill>
              </a:defRPr>
            </a:lvl1pPr>
            <a:extLst/>
          </a:lstStyle>
          <a:p>
            <a:endParaRPr lang="en-US" dirty="0"/>
          </a:p>
        </p:txBody>
      </p:sp>
    </p:spTree>
    <p:extLst>
      <p:ext uri="{BB962C8B-B14F-4D97-AF65-F5344CB8AC3E}">
        <p14:creationId xmlns:p14="http://schemas.microsoft.com/office/powerpoint/2010/main" val="2961062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
            <a:ext cx="11074400" cy="1066800"/>
          </a:xfrm>
        </p:spPr>
        <p:txBody>
          <a:bodyPr anchor="b">
            <a:normAutofit/>
          </a:bodyPr>
          <a:lstStyle>
            <a:lvl1pPr algn="l">
              <a:defRPr sz="3200" b="1"/>
            </a:lvl1pPr>
          </a:lstStyle>
          <a:p>
            <a:r>
              <a:rPr lang="en-US" dirty="0"/>
              <a:t>Click to edit Master title style</a:t>
            </a:r>
          </a:p>
        </p:txBody>
      </p:sp>
      <p:sp>
        <p:nvSpPr>
          <p:cNvPr id="3" name="Content Placeholder 2"/>
          <p:cNvSpPr>
            <a:spLocks noGrp="1"/>
          </p:cNvSpPr>
          <p:nvPr>
            <p:ph idx="1"/>
          </p:nvPr>
        </p:nvSpPr>
        <p:spPr>
          <a:xfrm>
            <a:off x="4523709" y="1524001"/>
            <a:ext cx="7058691" cy="4648199"/>
          </a:xfrm>
        </p:spPr>
        <p:txBody>
          <a:bodyP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91890" y="1524000"/>
            <a:ext cx="3564876" cy="4648200"/>
          </a:xfrm>
        </p:spPr>
        <p:txBody>
          <a:bodyPr>
            <a:normAutofit/>
          </a:bodyPr>
          <a:lstStyle>
            <a:lvl1pPr marL="0" indent="0">
              <a:buNone/>
              <a:defRPr sz="20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Slide Number Placeholder 6"/>
          <p:cNvSpPr>
            <a:spLocks noGrp="1"/>
          </p:cNvSpPr>
          <p:nvPr>
            <p:ph type="sldNum" sz="quarter" idx="12"/>
          </p:nvPr>
        </p:nvSpPr>
        <p:spPr/>
        <p:txBody>
          <a:bodyPr/>
          <a:lstStyle/>
          <a:p>
            <a:fld id="{BFEBEB0A-9E3D-4B14-9782-E2AE3DA60D96}" type="slidenum">
              <a:rPr lang="en-US" smtClean="0"/>
              <a:pPr/>
              <a:t>‹#›</a:t>
            </a:fld>
            <a:endParaRPr lang="en-US"/>
          </a:p>
        </p:txBody>
      </p:sp>
      <p:cxnSp>
        <p:nvCxnSpPr>
          <p:cNvPr id="10" name="Straight Connector 9"/>
          <p:cNvCxnSpPr/>
          <p:nvPr/>
        </p:nvCxnSpPr>
        <p:spPr>
          <a:xfrm rot="5400000">
            <a:off x="2447147" y="3581135"/>
            <a:ext cx="3810000" cy="2117"/>
          </a:xfrm>
          <a:prstGeom prst="line">
            <a:avLst/>
          </a:prstGeom>
          <a:ln>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19"/>
          <p:cNvSpPr>
            <a:spLocks noGrp="1"/>
          </p:cNvSpPr>
          <p:nvPr>
            <p:ph type="ftr" sz="quarter" idx="11"/>
          </p:nvPr>
        </p:nvSpPr>
        <p:spPr>
          <a:xfrm>
            <a:off x="609600" y="6400800"/>
            <a:ext cx="6807200" cy="304800"/>
          </a:xfrm>
        </p:spPr>
        <p:txBody>
          <a:bodyPr/>
          <a:lstStyle/>
          <a:p>
            <a:endParaRPr lang="en-US" dirty="0"/>
          </a:p>
        </p:txBody>
      </p:sp>
    </p:spTree>
    <p:extLst>
      <p:ext uri="{BB962C8B-B14F-4D97-AF65-F5344CB8AC3E}">
        <p14:creationId xmlns:p14="http://schemas.microsoft.com/office/powerpoint/2010/main" val="42860458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BFEBEB0A-9E3D-4B14-9782-E2AE3DA60D96}" type="slidenum">
              <a:rPr lang="en-US" smtClean="0"/>
              <a:pPr/>
              <a:t>‹#›</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6" name="Picture Placeholder 5"/>
          <p:cNvSpPr>
            <a:spLocks noGrp="1"/>
          </p:cNvSpPr>
          <p:nvPr>
            <p:ph type="pic" sz="quarter" idx="12"/>
          </p:nvPr>
        </p:nvSpPr>
        <p:spPr>
          <a:xfrm>
            <a:off x="609600" y="1524000"/>
            <a:ext cx="7823200" cy="4648200"/>
          </a:xfrm>
        </p:spPr>
        <p:txBody>
          <a:bodyPr/>
          <a:lstStyle/>
          <a:p>
            <a:endParaRPr lang="en-US"/>
          </a:p>
        </p:txBody>
      </p:sp>
      <p:sp>
        <p:nvSpPr>
          <p:cNvPr id="8" name="Text Placeholder 7"/>
          <p:cNvSpPr>
            <a:spLocks noGrp="1"/>
          </p:cNvSpPr>
          <p:nvPr>
            <p:ph type="body" sz="quarter" idx="13"/>
          </p:nvPr>
        </p:nvSpPr>
        <p:spPr>
          <a:xfrm>
            <a:off x="8737600" y="1524000"/>
            <a:ext cx="2844800" cy="4648200"/>
          </a:xfrm>
        </p:spPr>
        <p:txBody>
          <a:bodyPr>
            <a:normAutofit/>
          </a:bodyPr>
          <a:lstStyle>
            <a:lvl1pPr marL="0" indent="0">
              <a:buFontTx/>
              <a:buNone/>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279207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BlankRed">
    <p:bg>
      <p:bgPr>
        <a:solidFill>
          <a:schemeClr val="accent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66131" y="1066834"/>
            <a:ext cx="4459738" cy="4428034"/>
          </a:xfrm>
          <a:prstGeom prst="rect">
            <a:avLst/>
          </a:prstGeom>
        </p:spPr>
      </p:pic>
    </p:spTree>
    <p:extLst>
      <p:ext uri="{BB962C8B-B14F-4D97-AF65-F5344CB8AC3E}">
        <p14:creationId xmlns:p14="http://schemas.microsoft.com/office/powerpoint/2010/main" val="1504187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351367"/>
            <a:ext cx="10972800" cy="800100"/>
          </a:xfrm>
          <a:prstGeom prst="rect">
            <a:avLst/>
          </a:prstGeom>
        </p:spPr>
        <p:txBody>
          <a:bodyPr vert="horz" lIns="91440" tIns="45720" rIns="91440" bIns="45720" rtlCol="0" anchor="b" anchorCtr="0">
            <a:noAutofit/>
          </a:bodyPr>
          <a:lstStyle/>
          <a:p>
            <a:r>
              <a:rPr lang="en-US" dirty="0"/>
              <a:t>Click to edit Master title style</a:t>
            </a:r>
          </a:p>
        </p:txBody>
      </p:sp>
      <p:sp>
        <p:nvSpPr>
          <p:cNvPr id="3" name="Text Placeholder 2"/>
          <p:cNvSpPr>
            <a:spLocks noGrp="1"/>
          </p:cNvSpPr>
          <p:nvPr>
            <p:ph type="body" idx="1"/>
          </p:nvPr>
        </p:nvSpPr>
        <p:spPr>
          <a:xfrm>
            <a:off x="609600" y="1524000"/>
            <a:ext cx="10972800" cy="4648200"/>
          </a:xfrm>
          <a:prstGeom prst="rect">
            <a:avLst/>
          </a:prstGeom>
        </p:spPr>
        <p:txBody>
          <a:bodyPr vert="horz" lIns="91440" tIns="45720" rIns="91440" bIns="4572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1" y="6387664"/>
            <a:ext cx="609600" cy="394136"/>
          </a:xfrm>
          <a:prstGeom prst="rect">
            <a:avLst/>
          </a:prstGeom>
        </p:spPr>
        <p:txBody>
          <a:bodyPr vert="horz" lIns="91440" tIns="45720" rIns="91440" bIns="45720" rtlCol="0" anchor="ctr"/>
          <a:lstStyle>
            <a:lvl1pPr algn="l">
              <a:defRPr sz="1200">
                <a:solidFill>
                  <a:schemeClr val="tx1">
                    <a:lumMod val="85000"/>
                    <a:lumOff val="15000"/>
                  </a:schemeClr>
                </a:solidFill>
                <a:latin typeface="+mj-lt"/>
              </a:defRPr>
            </a:lvl1pPr>
          </a:lstStyle>
          <a:p>
            <a:fld id="{BFEBEB0A-9E3D-4B14-9782-E2AE3DA60D96}" type="slidenum">
              <a:rPr lang="en-US" smtClean="0"/>
              <a:pPr/>
              <a:t>‹#›</a:t>
            </a:fld>
            <a:endParaRPr lang="en-US" dirty="0"/>
          </a:p>
        </p:txBody>
      </p:sp>
      <p:sp>
        <p:nvSpPr>
          <p:cNvPr id="9" name="Rectangle 8"/>
          <p:cNvSpPr/>
          <p:nvPr/>
        </p:nvSpPr>
        <p:spPr>
          <a:xfrm>
            <a:off x="609600" y="1234967"/>
            <a:ext cx="115824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extBox 9"/>
          <p:cNvSpPr txBox="1"/>
          <p:nvPr userDrawn="1"/>
        </p:nvSpPr>
        <p:spPr>
          <a:xfrm>
            <a:off x="7315200" y="6400800"/>
            <a:ext cx="4470400" cy="369332"/>
          </a:xfrm>
          <a:prstGeom prst="rect">
            <a:avLst/>
          </a:prstGeom>
          <a:noFill/>
          <a:ln>
            <a:noFill/>
          </a:ln>
        </p:spPr>
        <p:txBody>
          <a:bodyPr wrap="square" rtlCol="0">
            <a:spAutoFit/>
          </a:bodyPr>
          <a:lstStyle/>
          <a:p>
            <a:pPr algn="r"/>
            <a:r>
              <a:rPr lang="en-US" sz="1800" dirty="0">
                <a:solidFill>
                  <a:schemeClr val="bg2"/>
                </a:solidFill>
                <a:latin typeface="Times New Roman" pitchFamily="18" charset="0"/>
                <a:cs typeface="Times New Roman" pitchFamily="18" charset="0"/>
              </a:rPr>
              <a:t>Worcester Polytechnic Institute</a:t>
            </a:r>
          </a:p>
        </p:txBody>
      </p:sp>
      <p:sp>
        <p:nvSpPr>
          <p:cNvPr id="13" name="Footer Placeholder 2"/>
          <p:cNvSpPr>
            <a:spLocks noGrp="1"/>
          </p:cNvSpPr>
          <p:nvPr>
            <p:ph type="ftr" sz="quarter" idx="3"/>
          </p:nvPr>
        </p:nvSpPr>
        <p:spPr>
          <a:xfrm>
            <a:off x="609600" y="6400800"/>
            <a:ext cx="6807200" cy="304800"/>
          </a:xfrm>
          <a:prstGeom prst="rect">
            <a:avLst/>
          </a:prstGeom>
        </p:spPr>
        <p:txBody>
          <a:bodyPr/>
          <a:lstStyle>
            <a:lvl1pPr>
              <a:defRPr sz="1600" b="0">
                <a:solidFill>
                  <a:schemeClr val="tx2"/>
                </a:solidFill>
              </a:defRPr>
            </a:lvl1pPr>
          </a:lstStyle>
          <a:p>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82" r:id="rId2"/>
    <p:sldLayoutId id="2147483663" r:id="rId3"/>
    <p:sldLayoutId id="2147483695" r:id="rId4"/>
    <p:sldLayoutId id="2147483664" r:id="rId5"/>
    <p:sldLayoutId id="2147483665" r:id="rId6"/>
    <p:sldLayoutId id="2147483666" r:id="rId7"/>
    <p:sldLayoutId id="2147483667" r:id="rId8"/>
    <p:sldLayoutId id="2147483683" r:id="rId9"/>
    <p:sldLayoutId id="2147483696" r:id="rId10"/>
    <p:sldLayoutId id="2147483708" r:id="rId11"/>
  </p:sldLayoutIdLst>
  <p:hf hdr="0" dt="0"/>
  <p:txStyles>
    <p:titleStyle>
      <a:lvl1pPr algn="l" defTabSz="914400" rtl="0" eaLnBrk="1" latinLnBrk="0" hangingPunct="1">
        <a:spcBef>
          <a:spcPct val="0"/>
        </a:spcBef>
        <a:buNone/>
        <a:defRPr sz="3200" b="1" kern="1200">
          <a:solidFill>
            <a:schemeClr val="tx1">
              <a:lumMod val="85000"/>
              <a:lumOff val="15000"/>
            </a:schemeClr>
          </a:solidFill>
          <a:latin typeface="Verdana" pitchFamily="34" charset="0"/>
          <a:ea typeface="Verdana" pitchFamily="34" charset="0"/>
          <a:cs typeface="Verdana"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lnSpc>
          <a:spcPct val="95000"/>
        </a:lnSpc>
        <a:spcBef>
          <a:spcPts val="1200"/>
        </a:spcBef>
        <a:buClr>
          <a:schemeClr val="bg2"/>
        </a:buClr>
        <a:buFont typeface="Arial" pitchFamily="34" charset="0"/>
        <a:buChar char="•"/>
        <a:defRPr sz="2400" kern="1200">
          <a:solidFill>
            <a:schemeClr val="tx1"/>
          </a:solidFill>
          <a:latin typeface="Verdana" pitchFamily="34" charset="0"/>
          <a:ea typeface="Verdana" pitchFamily="34" charset="0"/>
          <a:cs typeface="Verdana" pitchFamily="34" charset="0"/>
        </a:defRPr>
      </a:lvl1pPr>
      <a:lvl2pPr marL="594360" indent="-274320" algn="l" defTabSz="914400" rtl="0" eaLnBrk="1" latinLnBrk="0" hangingPunct="1">
        <a:lnSpc>
          <a:spcPct val="95000"/>
        </a:lnSpc>
        <a:spcBef>
          <a:spcPts val="600"/>
        </a:spcBef>
        <a:buClr>
          <a:schemeClr val="bg2"/>
        </a:buClr>
        <a:buFont typeface="Verdana" pitchFamily="34" charset="0"/>
        <a:buChar char="─"/>
        <a:defRPr sz="2000" kern="1200">
          <a:solidFill>
            <a:schemeClr val="tx1"/>
          </a:solidFill>
          <a:latin typeface="Verdana" pitchFamily="34" charset="0"/>
          <a:ea typeface="Verdana" pitchFamily="34" charset="0"/>
          <a:cs typeface="Verdana" pitchFamily="34" charset="0"/>
        </a:defRPr>
      </a:lvl2pPr>
      <a:lvl3pPr marL="868680" indent="-228600" algn="l" defTabSz="914400" rtl="0" eaLnBrk="1" latinLnBrk="0" hangingPunct="1">
        <a:lnSpc>
          <a:spcPct val="95000"/>
        </a:lnSpc>
        <a:spcBef>
          <a:spcPts val="600"/>
        </a:spcBef>
        <a:buClr>
          <a:schemeClr val="bg2"/>
        </a:buClr>
        <a:buFont typeface="Wingdings" pitchFamily="2" charset="2"/>
        <a:buChar char="§"/>
        <a:defRPr sz="1800" kern="1200">
          <a:solidFill>
            <a:schemeClr val="tx1"/>
          </a:solidFill>
          <a:latin typeface="Verdana" pitchFamily="34" charset="0"/>
          <a:ea typeface="Verdana" pitchFamily="34" charset="0"/>
          <a:cs typeface="Verdana" pitchFamily="34" charset="0"/>
        </a:defRPr>
      </a:lvl3pPr>
      <a:lvl4pPr marL="1143000" indent="-228600" algn="l" defTabSz="914400" rtl="0" eaLnBrk="1" latinLnBrk="0" hangingPunct="1">
        <a:lnSpc>
          <a:spcPct val="95000"/>
        </a:lnSpc>
        <a:spcBef>
          <a:spcPts val="600"/>
        </a:spcBef>
        <a:buClr>
          <a:schemeClr val="bg2"/>
        </a:buClr>
        <a:buFont typeface="Courier New" pitchFamily="49" charset="0"/>
        <a:buChar char="o"/>
        <a:defRPr sz="1600" kern="1200">
          <a:solidFill>
            <a:schemeClr val="tx1"/>
          </a:solidFill>
          <a:latin typeface="Verdana" pitchFamily="34" charset="0"/>
          <a:ea typeface="Verdana" pitchFamily="34" charset="0"/>
          <a:cs typeface="Verdana" pitchFamily="34" charset="0"/>
        </a:defRPr>
      </a:lvl4pPr>
      <a:lvl5pPr marL="1371600" indent="-228600" algn="l" defTabSz="914400" rtl="0" eaLnBrk="1" latinLnBrk="0" hangingPunct="1">
        <a:lnSpc>
          <a:spcPct val="95000"/>
        </a:lnSpc>
        <a:spcBef>
          <a:spcPts val="600"/>
        </a:spcBef>
        <a:buClr>
          <a:schemeClr val="bg2"/>
        </a:buClr>
        <a:buFont typeface="Arial" pitchFamily="34" charset="0"/>
        <a:buChar char="•"/>
        <a:defRPr sz="1600" kern="1200" baseline="0">
          <a:solidFill>
            <a:schemeClr val="tx1"/>
          </a:solidFill>
          <a:latin typeface="Verdana" pitchFamily="34" charset="0"/>
          <a:ea typeface="Verdana" pitchFamily="34" charset="0"/>
          <a:cs typeface="Verdana" pitchFamily="34" charset="0"/>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342900"/>
            <a:ext cx="10972800" cy="800100"/>
          </a:xfrm>
          <a:prstGeom prst="rect">
            <a:avLst/>
          </a:prstGeom>
        </p:spPr>
        <p:txBody>
          <a:bodyPr vert="horz" lIns="91440" tIns="45720" rIns="91440" bIns="45720" rtlCol="0" anchor="b" anchorCtr="0">
            <a:noAutofit/>
          </a:bodyPr>
          <a:lstStyle/>
          <a:p>
            <a:r>
              <a:rPr lang="en-US" dirty="0"/>
              <a:t>Click to edit Master title style</a:t>
            </a:r>
          </a:p>
        </p:txBody>
      </p:sp>
      <p:sp>
        <p:nvSpPr>
          <p:cNvPr id="3" name="Text Placeholder 2"/>
          <p:cNvSpPr>
            <a:spLocks noGrp="1"/>
          </p:cNvSpPr>
          <p:nvPr>
            <p:ph type="body" idx="1"/>
          </p:nvPr>
        </p:nvSpPr>
        <p:spPr>
          <a:xfrm>
            <a:off x="609600" y="1524000"/>
            <a:ext cx="10972800" cy="4648200"/>
          </a:xfrm>
          <a:prstGeom prst="rect">
            <a:avLst/>
          </a:prstGeom>
        </p:spPr>
        <p:txBody>
          <a:bodyPr vert="horz" lIns="91440" tIns="45720" rIns="91440" bIns="45720" rtlCol="0" anchor="t" anchorCtr="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 y="6391657"/>
            <a:ext cx="609600" cy="313944"/>
          </a:xfrm>
          <a:prstGeom prst="rect">
            <a:avLst/>
          </a:prstGeom>
        </p:spPr>
        <p:txBody>
          <a:bodyPr vert="horz" lIns="91440" tIns="45720" rIns="91440" bIns="45720" rtlCol="0" anchor="ctr"/>
          <a:lstStyle>
            <a:lvl1pPr algn="l">
              <a:defRPr sz="1200">
                <a:solidFill>
                  <a:schemeClr val="tx1"/>
                </a:solidFill>
                <a:latin typeface="+mj-lt"/>
              </a:defRPr>
            </a:lvl1pPr>
          </a:lstStyle>
          <a:p>
            <a:fld id="{BFEBEB0A-9E3D-4B14-9782-E2AE3DA60D96}" type="slidenum">
              <a:rPr lang="en-US" smtClean="0"/>
              <a:pPr/>
              <a:t>‹#›</a:t>
            </a:fld>
            <a:endParaRPr lang="en-US" dirty="0"/>
          </a:p>
        </p:txBody>
      </p:sp>
      <p:sp>
        <p:nvSpPr>
          <p:cNvPr id="9" name="Rectangle 8"/>
          <p:cNvSpPr/>
          <p:nvPr/>
        </p:nvSpPr>
        <p:spPr>
          <a:xfrm>
            <a:off x="609600" y="1234967"/>
            <a:ext cx="115824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extBox 9"/>
          <p:cNvSpPr txBox="1"/>
          <p:nvPr userDrawn="1"/>
        </p:nvSpPr>
        <p:spPr>
          <a:xfrm>
            <a:off x="7315200" y="6400800"/>
            <a:ext cx="4470400" cy="369332"/>
          </a:xfrm>
          <a:prstGeom prst="rect">
            <a:avLst/>
          </a:prstGeom>
          <a:noFill/>
          <a:ln>
            <a:noFill/>
          </a:ln>
        </p:spPr>
        <p:txBody>
          <a:bodyPr wrap="square" rtlCol="0">
            <a:spAutoFit/>
          </a:bodyPr>
          <a:lstStyle/>
          <a:p>
            <a:pPr algn="r"/>
            <a:r>
              <a:rPr lang="en-US" sz="1800" dirty="0">
                <a:solidFill>
                  <a:schemeClr val="tx1"/>
                </a:solidFill>
                <a:latin typeface="Times New Roman" pitchFamily="18" charset="0"/>
                <a:cs typeface="Times New Roman" pitchFamily="18" charset="0"/>
              </a:rPr>
              <a:t>Worcester Polytechnic Institute</a:t>
            </a:r>
          </a:p>
        </p:txBody>
      </p:sp>
      <p:sp>
        <p:nvSpPr>
          <p:cNvPr id="13" name="Footer Placeholder 2"/>
          <p:cNvSpPr>
            <a:spLocks noGrp="1"/>
          </p:cNvSpPr>
          <p:nvPr>
            <p:ph type="ftr" sz="quarter" idx="3"/>
          </p:nvPr>
        </p:nvSpPr>
        <p:spPr>
          <a:xfrm>
            <a:off x="609600" y="6400800"/>
            <a:ext cx="6807200" cy="304800"/>
          </a:xfrm>
          <a:prstGeom prst="rect">
            <a:avLst/>
          </a:prstGeom>
        </p:spPr>
        <p:txBody>
          <a:bodyPr/>
          <a:lstStyle>
            <a:lvl1pPr>
              <a:defRPr sz="1600" b="0">
                <a:solidFill>
                  <a:schemeClr val="tx1"/>
                </a:solidFill>
              </a:defRPr>
            </a:lvl1pPr>
          </a:lstStyle>
          <a:p>
            <a:endParaRPr lang="en-US" dirty="0"/>
          </a:p>
        </p:txBody>
      </p:sp>
    </p:spTree>
    <p:extLst>
      <p:ext uri="{BB962C8B-B14F-4D97-AF65-F5344CB8AC3E}">
        <p14:creationId xmlns:p14="http://schemas.microsoft.com/office/powerpoint/2010/main" val="3436894326"/>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9" r:id="rId11"/>
  </p:sldLayoutIdLst>
  <p:hf hdr="0" dt="0"/>
  <p:txStyles>
    <p:titleStyle>
      <a:lvl1pPr algn="l" defTabSz="914400" rtl="0" eaLnBrk="1" latinLnBrk="0" hangingPunct="1">
        <a:spcBef>
          <a:spcPct val="0"/>
        </a:spcBef>
        <a:buNone/>
        <a:defRPr sz="3200" b="1" kern="1200">
          <a:solidFill>
            <a:schemeClr val="tx1"/>
          </a:solidFill>
          <a:latin typeface="Verdana" pitchFamily="34" charset="0"/>
          <a:ea typeface="Verdana" pitchFamily="34" charset="0"/>
          <a:cs typeface="Verdana"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lnSpc>
          <a:spcPct val="95000"/>
        </a:lnSpc>
        <a:spcBef>
          <a:spcPts val="1200"/>
        </a:spcBef>
        <a:buClr>
          <a:schemeClr val="bg2"/>
        </a:buClr>
        <a:buFont typeface="Arial" pitchFamily="34" charset="0"/>
        <a:buChar char="•"/>
        <a:defRPr sz="2400" kern="1200">
          <a:solidFill>
            <a:schemeClr val="tx1"/>
          </a:solidFill>
          <a:latin typeface="Verdana" pitchFamily="34" charset="0"/>
          <a:ea typeface="Verdana" pitchFamily="34" charset="0"/>
          <a:cs typeface="Verdana" pitchFamily="34" charset="0"/>
        </a:defRPr>
      </a:lvl1pPr>
      <a:lvl2pPr marL="594360" indent="-274320" algn="l" defTabSz="914400" rtl="0" eaLnBrk="1" latinLnBrk="0" hangingPunct="1">
        <a:lnSpc>
          <a:spcPct val="95000"/>
        </a:lnSpc>
        <a:spcBef>
          <a:spcPts val="600"/>
        </a:spcBef>
        <a:buClr>
          <a:schemeClr val="bg2"/>
        </a:buClr>
        <a:buFont typeface="Verdana" pitchFamily="34" charset="0"/>
        <a:buChar char="─"/>
        <a:defRPr sz="2000" kern="1200">
          <a:solidFill>
            <a:schemeClr val="tx1"/>
          </a:solidFill>
          <a:latin typeface="Verdana" pitchFamily="34" charset="0"/>
          <a:ea typeface="Verdana" pitchFamily="34" charset="0"/>
          <a:cs typeface="Verdana" pitchFamily="34" charset="0"/>
        </a:defRPr>
      </a:lvl2pPr>
      <a:lvl3pPr marL="868680" indent="-228600" algn="l" defTabSz="914400" rtl="0" eaLnBrk="1" latinLnBrk="0" hangingPunct="1">
        <a:lnSpc>
          <a:spcPct val="95000"/>
        </a:lnSpc>
        <a:spcBef>
          <a:spcPts val="600"/>
        </a:spcBef>
        <a:buClr>
          <a:schemeClr val="bg2"/>
        </a:buClr>
        <a:buFont typeface="Wingdings" pitchFamily="2" charset="2"/>
        <a:buChar char="§"/>
        <a:defRPr sz="1800" kern="1200">
          <a:solidFill>
            <a:schemeClr val="tx1"/>
          </a:solidFill>
          <a:latin typeface="Verdana" pitchFamily="34" charset="0"/>
          <a:ea typeface="Verdana" pitchFamily="34" charset="0"/>
          <a:cs typeface="Verdana" pitchFamily="34" charset="0"/>
        </a:defRPr>
      </a:lvl3pPr>
      <a:lvl4pPr marL="1143000" indent="-228600" algn="l" defTabSz="914400" rtl="0" eaLnBrk="1" latinLnBrk="0" hangingPunct="1">
        <a:lnSpc>
          <a:spcPct val="95000"/>
        </a:lnSpc>
        <a:spcBef>
          <a:spcPts val="600"/>
        </a:spcBef>
        <a:buClr>
          <a:schemeClr val="bg2"/>
        </a:buClr>
        <a:buFont typeface="Courier New" pitchFamily="49" charset="0"/>
        <a:buChar char="o"/>
        <a:defRPr sz="1600" kern="1200">
          <a:solidFill>
            <a:schemeClr val="tx1"/>
          </a:solidFill>
          <a:latin typeface="Verdana" pitchFamily="34" charset="0"/>
          <a:ea typeface="Verdana" pitchFamily="34" charset="0"/>
          <a:cs typeface="Verdana" pitchFamily="34" charset="0"/>
        </a:defRPr>
      </a:lvl4pPr>
      <a:lvl5pPr marL="1371600" indent="-228600" algn="l" defTabSz="914400" rtl="0" eaLnBrk="1" latinLnBrk="0" hangingPunct="1">
        <a:lnSpc>
          <a:spcPct val="95000"/>
        </a:lnSpc>
        <a:spcBef>
          <a:spcPts val="600"/>
        </a:spcBef>
        <a:buClr>
          <a:schemeClr val="bg2"/>
        </a:buClr>
        <a:buFont typeface="Arial" pitchFamily="34" charset="0"/>
        <a:buChar char="•"/>
        <a:defRPr sz="1600" kern="1200" baseline="0">
          <a:solidFill>
            <a:schemeClr val="tx1"/>
          </a:solidFill>
          <a:latin typeface="Verdana" pitchFamily="34" charset="0"/>
          <a:ea typeface="Verdana" pitchFamily="34" charset="0"/>
          <a:cs typeface="Verdana" pitchFamily="34" charset="0"/>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8E_F2605F0D.xm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doi.org/10.1109/ISMR57123.2023.10130226"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s://doi.org/10.1109/TRO.2008.2006868"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hyperlink" Target="https://doi.org/10.1109/TRO.2008.2006868"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hyperlink" Target="https://doi.org/10.1142/s2424905x21400043" TargetMode="External"/><Relationship Id="rId4" Type="http://schemas.openxmlformats.org/officeDocument/2006/relationships/hyperlink" Target="https://doi.org/10.1109/TRO.2016.2602368"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hyperlink" Target="https://doi.org/10.1109/TRO.2016.2602368" TargetMode="Externa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1AF_DC4BCADF.xml"/><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hyperlink" Target="https://doi.org/10.1109/ISMR57123.2023.10130226"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1109/ISMR57123.2023.10130226"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microsoft.com/office/2018/10/relationships/comments" Target="../comments/modernComment_1A3_B241847E.xml"/><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hyperlink" Target="https://doi.org/10.1109/ISMR57123.2023.10130226"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hyperlink" Target="https://doi.org/10.1109/TRO.2008.2006868" TargetMode="External"/><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microsoft.com/office/2018/10/relationships/comments" Target="../comments/modernComment_1AA_1DBDF916.xml"/><Relationship Id="rId2" Type="http://schemas.openxmlformats.org/officeDocument/2006/relationships/notesSlide" Target="../notesSlides/notesSlide20.xml"/><Relationship Id="rId1" Type="http://schemas.openxmlformats.org/officeDocument/2006/relationships/slideLayout" Target="../slideLayouts/slideLayout10.xml"/><Relationship Id="rId5" Type="http://schemas.openxmlformats.org/officeDocument/2006/relationships/image" Target="../media/image14.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hyperlink" Target="https://doi.org/10.1109/ISMR57123.2023.10130226" TargetMode="External"/><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097764"/>
            <a:ext cx="10736424" cy="1524001"/>
          </a:xfrm>
        </p:spPr>
        <p:txBody>
          <a:bodyPr/>
          <a:lstStyle/>
          <a:p>
            <a:r>
              <a:rPr lang="en-US" dirty="0"/>
              <a:t>An Experimental Study of the Mechanical Response of Nylon-12 Tubing: Practical Implications for Use in Concentric Tube Robots</a:t>
            </a:r>
          </a:p>
        </p:txBody>
      </p:sp>
      <p:sp>
        <p:nvSpPr>
          <p:cNvPr id="3" name="Subtitle 2"/>
          <p:cNvSpPr>
            <a:spLocks noGrp="1"/>
          </p:cNvSpPr>
          <p:nvPr>
            <p:ph type="subTitle" idx="1"/>
          </p:nvPr>
        </p:nvSpPr>
        <p:spPr>
          <a:xfrm>
            <a:off x="609600" y="4853412"/>
            <a:ext cx="9144000" cy="990600"/>
          </a:xfrm>
        </p:spPr>
        <p:txBody>
          <a:bodyPr/>
          <a:lstStyle/>
          <a:p>
            <a:r>
              <a:rPr lang="en-US" dirty="0"/>
              <a:t>Christopher DeMaio</a:t>
            </a:r>
          </a:p>
        </p:txBody>
      </p:sp>
    </p:spTree>
    <p:extLst>
      <p:ext uri="{BB962C8B-B14F-4D97-AF65-F5344CB8AC3E}">
        <p14:creationId xmlns:p14="http://schemas.microsoft.com/office/powerpoint/2010/main" val="1780741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A7031-2ABF-433E-4EA7-8EB343A69099}"/>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6B41574E-2697-D1B7-4E9E-81A7B3FE7973}"/>
              </a:ext>
            </a:extLst>
          </p:cNvPr>
          <p:cNvSpPr>
            <a:spLocks noGrp="1"/>
          </p:cNvSpPr>
          <p:nvPr>
            <p:ph idx="1"/>
          </p:nvPr>
        </p:nvSpPr>
        <p:spPr/>
        <p:txBody>
          <a:bodyPr/>
          <a:lstStyle/>
          <a:p>
            <a:r>
              <a:rPr lang="en-US" dirty="0"/>
              <a:t>Timeline</a:t>
            </a:r>
          </a:p>
          <a:p>
            <a:r>
              <a:rPr lang="en-US" dirty="0"/>
              <a:t>Scope/Contributions</a:t>
            </a:r>
          </a:p>
          <a:p>
            <a:r>
              <a:rPr lang="en-US" dirty="0"/>
              <a:t>Background/Motivation</a:t>
            </a:r>
          </a:p>
          <a:p>
            <a:r>
              <a:rPr lang="en-US" dirty="0"/>
              <a:t>Methodology</a:t>
            </a:r>
          </a:p>
          <a:p>
            <a:r>
              <a:rPr lang="en-US" dirty="0"/>
              <a:t>Experiments/Results</a:t>
            </a:r>
          </a:p>
          <a:p>
            <a:r>
              <a:rPr lang="en-US" dirty="0"/>
              <a:t>Next Steps</a:t>
            </a:r>
          </a:p>
        </p:txBody>
      </p:sp>
      <p:sp>
        <p:nvSpPr>
          <p:cNvPr id="4" name="Footer Placeholder 3">
            <a:extLst>
              <a:ext uri="{FF2B5EF4-FFF2-40B4-BE49-F238E27FC236}">
                <a16:creationId xmlns:a16="http://schemas.microsoft.com/office/drawing/2014/main" id="{5BA75CBC-E2BC-72F9-13E2-A6983AC73DF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9C2F762-4396-B79A-7C3D-F9E9AFE58A8D}"/>
              </a:ext>
            </a:extLst>
          </p:cNvPr>
          <p:cNvSpPr>
            <a:spLocks noGrp="1"/>
          </p:cNvSpPr>
          <p:nvPr>
            <p:ph type="sldNum" sz="quarter" idx="12"/>
          </p:nvPr>
        </p:nvSpPr>
        <p:spPr/>
        <p:txBody>
          <a:bodyPr/>
          <a:lstStyle/>
          <a:p>
            <a:fld id="{963B0023-0CED-47F7-85AE-654F0B232C29}" type="slidenum">
              <a:rPr lang="en-US" smtClean="0"/>
              <a:pPr/>
              <a:t>2</a:t>
            </a:fld>
            <a:endParaRPr lang="en-US" dirty="0"/>
          </a:p>
        </p:txBody>
      </p:sp>
    </p:spTree>
    <p:extLst>
      <p:ext uri="{BB962C8B-B14F-4D97-AF65-F5344CB8AC3E}">
        <p14:creationId xmlns:p14="http://schemas.microsoft.com/office/powerpoint/2010/main" val="4289209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B3CC4-3EFE-34E8-18EA-935EA41BE34A}"/>
              </a:ext>
            </a:extLst>
          </p:cNvPr>
          <p:cNvSpPr>
            <a:spLocks noGrp="1"/>
          </p:cNvSpPr>
          <p:nvPr>
            <p:ph type="title"/>
          </p:nvPr>
        </p:nvSpPr>
        <p:spPr/>
        <p:txBody>
          <a:bodyPr/>
          <a:lstStyle/>
          <a:p>
            <a:r>
              <a:rPr lang="en-US" dirty="0"/>
              <a:t>Contributions</a:t>
            </a:r>
          </a:p>
        </p:txBody>
      </p:sp>
      <p:sp>
        <p:nvSpPr>
          <p:cNvPr id="3" name="Content Placeholder 2">
            <a:extLst>
              <a:ext uri="{FF2B5EF4-FFF2-40B4-BE49-F238E27FC236}">
                <a16:creationId xmlns:a16="http://schemas.microsoft.com/office/drawing/2014/main" id="{02DE3462-FB7C-4A22-D81A-0887CBB4F213}"/>
              </a:ext>
            </a:extLst>
          </p:cNvPr>
          <p:cNvSpPr>
            <a:spLocks noGrp="1"/>
          </p:cNvSpPr>
          <p:nvPr>
            <p:ph idx="1"/>
          </p:nvPr>
        </p:nvSpPr>
        <p:spPr/>
        <p:txBody>
          <a:bodyPr/>
          <a:lstStyle/>
          <a:p>
            <a:pPr marL="0" indent="0">
              <a:buNone/>
            </a:pPr>
            <a:r>
              <a:rPr lang="en-US" dirty="0"/>
              <a:t>This thesis reports experimental studies on the mechanical behavior of thin Nylon-12 tubes under different loading conditions. Our evidence disproves two assumptions commonly used in the literature:</a:t>
            </a:r>
          </a:p>
          <a:p>
            <a:pPr marL="457200" indent="-457200">
              <a:buFont typeface="+mj-lt"/>
              <a:buAutoNum type="arabicPeriod"/>
            </a:pPr>
            <a:r>
              <a:rPr lang="en-US" dirty="0"/>
              <a:t>Nylon-12 tubes are purely elastic at low strains</a:t>
            </a:r>
          </a:p>
          <a:p>
            <a:pPr marL="457200" indent="-457200">
              <a:buFont typeface="+mj-lt"/>
              <a:buAutoNum type="arabicPeriod"/>
            </a:pPr>
            <a:r>
              <a:rPr lang="en-US" dirty="0"/>
              <a:t>Any deformation not immediately recovered is plastic</a:t>
            </a:r>
          </a:p>
          <a:p>
            <a:pPr marL="0" indent="0">
              <a:buNone/>
            </a:pPr>
            <a:r>
              <a:rPr lang="en-US" dirty="0"/>
              <a:t>I propose new models, based on the theory of viscoelastic solids, that more accurately capture the time-dependent deformations experimentally observed in Nylon-12 tubes.</a:t>
            </a:r>
          </a:p>
        </p:txBody>
      </p:sp>
      <p:sp>
        <p:nvSpPr>
          <p:cNvPr id="4" name="Footer Placeholder 3">
            <a:extLst>
              <a:ext uri="{FF2B5EF4-FFF2-40B4-BE49-F238E27FC236}">
                <a16:creationId xmlns:a16="http://schemas.microsoft.com/office/drawing/2014/main" id="{04ADFC70-C402-23C3-1F9C-FA9DFEF771C2}"/>
              </a:ext>
            </a:extLst>
          </p:cNvPr>
          <p:cNvSpPr>
            <a:spLocks noGrp="1"/>
          </p:cNvSpPr>
          <p:nvPr>
            <p:ph type="ftr" sz="quarter" idx="11"/>
          </p:nvPr>
        </p:nvSpPr>
        <p:spPr>
          <a:xfrm>
            <a:off x="609599" y="6400800"/>
            <a:ext cx="8106383" cy="381000"/>
          </a:xfrm>
        </p:spPr>
        <p:txBody>
          <a:bodyPr/>
          <a:lstStyle/>
          <a:p>
            <a:pPr>
              <a:spcBef>
                <a:spcPts val="0"/>
              </a:spcBef>
              <a:spcAft>
                <a:spcPts val="0"/>
              </a:spcAft>
            </a:pPr>
            <a:endParaRPr lang="en-US" sz="900" dirty="0">
              <a:effectLst/>
            </a:endParaRPr>
          </a:p>
        </p:txBody>
      </p:sp>
      <p:sp>
        <p:nvSpPr>
          <p:cNvPr id="5" name="Slide Number Placeholder 4">
            <a:extLst>
              <a:ext uri="{FF2B5EF4-FFF2-40B4-BE49-F238E27FC236}">
                <a16:creationId xmlns:a16="http://schemas.microsoft.com/office/drawing/2014/main" id="{2F452487-4742-C8E0-BF0B-E8DAA9157A62}"/>
              </a:ext>
            </a:extLst>
          </p:cNvPr>
          <p:cNvSpPr>
            <a:spLocks noGrp="1"/>
          </p:cNvSpPr>
          <p:nvPr>
            <p:ph type="sldNum" sz="quarter" idx="12"/>
          </p:nvPr>
        </p:nvSpPr>
        <p:spPr/>
        <p:txBody>
          <a:bodyPr/>
          <a:lstStyle/>
          <a:p>
            <a:fld id="{963B0023-0CED-47F7-85AE-654F0B232C29}" type="slidenum">
              <a:rPr lang="en-US" smtClean="0"/>
              <a:pPr/>
              <a:t>3</a:t>
            </a:fld>
            <a:endParaRPr lang="en-US" dirty="0"/>
          </a:p>
        </p:txBody>
      </p:sp>
    </p:spTree>
    <p:extLst>
      <p:ext uri="{BB962C8B-B14F-4D97-AF65-F5344CB8AC3E}">
        <p14:creationId xmlns:p14="http://schemas.microsoft.com/office/powerpoint/2010/main" val="4066402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7A925-D6AE-BA81-3BB1-704380C53279}"/>
              </a:ext>
            </a:extLst>
          </p:cNvPr>
          <p:cNvSpPr>
            <a:spLocks noGrp="1"/>
          </p:cNvSpPr>
          <p:nvPr>
            <p:ph type="title"/>
          </p:nvPr>
        </p:nvSpPr>
        <p:spPr/>
        <p:txBody>
          <a:bodyPr/>
          <a:lstStyle/>
          <a:p>
            <a:r>
              <a:rPr lang="en-US" dirty="0"/>
              <a:t>Background: Concentric Tube Robots (CTRs)</a:t>
            </a:r>
          </a:p>
        </p:txBody>
      </p:sp>
      <p:sp>
        <p:nvSpPr>
          <p:cNvPr id="3" name="Content Placeholder 2">
            <a:extLst>
              <a:ext uri="{FF2B5EF4-FFF2-40B4-BE49-F238E27FC236}">
                <a16:creationId xmlns:a16="http://schemas.microsoft.com/office/drawing/2014/main" id="{E9DA726A-941C-EBA6-386F-D73EDC6A7731}"/>
              </a:ext>
            </a:extLst>
          </p:cNvPr>
          <p:cNvSpPr>
            <a:spLocks noGrp="1"/>
          </p:cNvSpPr>
          <p:nvPr>
            <p:ph idx="1"/>
          </p:nvPr>
        </p:nvSpPr>
        <p:spPr/>
        <p:txBody>
          <a:bodyPr/>
          <a:lstStyle/>
          <a:p>
            <a:r>
              <a:rPr lang="en-US" dirty="0"/>
              <a:t>Set of pre-curved tubes nested telescopically</a:t>
            </a:r>
          </a:p>
          <a:p>
            <a:r>
              <a:rPr lang="en-US" dirty="0"/>
              <a:t>Miniaturizability and high dexterity enables applications in minimally invasive surgery</a:t>
            </a:r>
          </a:p>
          <a:p>
            <a:endParaRPr lang="en-US" dirty="0"/>
          </a:p>
        </p:txBody>
      </p:sp>
      <p:sp>
        <p:nvSpPr>
          <p:cNvPr id="5" name="Slide Number Placeholder 4">
            <a:extLst>
              <a:ext uri="{FF2B5EF4-FFF2-40B4-BE49-F238E27FC236}">
                <a16:creationId xmlns:a16="http://schemas.microsoft.com/office/drawing/2014/main" id="{6A92B71E-C38D-5B94-814A-AD44AAE42999}"/>
              </a:ext>
            </a:extLst>
          </p:cNvPr>
          <p:cNvSpPr>
            <a:spLocks noGrp="1"/>
          </p:cNvSpPr>
          <p:nvPr>
            <p:ph type="sldNum" sz="quarter" idx="12"/>
          </p:nvPr>
        </p:nvSpPr>
        <p:spPr/>
        <p:txBody>
          <a:bodyPr/>
          <a:lstStyle/>
          <a:p>
            <a:fld id="{963B0023-0CED-47F7-85AE-654F0B232C29}" type="slidenum">
              <a:rPr lang="en-US" smtClean="0"/>
              <a:pPr/>
              <a:t>4</a:t>
            </a:fld>
            <a:endParaRPr lang="en-US" dirty="0"/>
          </a:p>
        </p:txBody>
      </p:sp>
      <p:sp>
        <p:nvSpPr>
          <p:cNvPr id="9" name="Footer Placeholder 3">
            <a:extLst>
              <a:ext uri="{FF2B5EF4-FFF2-40B4-BE49-F238E27FC236}">
                <a16:creationId xmlns:a16="http://schemas.microsoft.com/office/drawing/2014/main" id="{4C040381-BF51-7F0B-FA53-41A689FDAB72}"/>
              </a:ext>
            </a:extLst>
          </p:cNvPr>
          <p:cNvSpPr>
            <a:spLocks noGrp="1"/>
          </p:cNvSpPr>
          <p:nvPr>
            <p:ph type="ftr" sz="quarter" idx="11"/>
          </p:nvPr>
        </p:nvSpPr>
        <p:spPr>
          <a:xfrm>
            <a:off x="609599" y="5981700"/>
            <a:ext cx="8106383" cy="800100"/>
          </a:xfrm>
        </p:spPr>
        <p:txBody>
          <a:bodyPr/>
          <a:lstStyle/>
          <a:p>
            <a:r>
              <a:rPr lang="en-US" sz="1000" dirty="0"/>
              <a:t>A. Lu, F. Ramos, J.-T. Lin, and T. K. Morimoto, “Enabling Higher Performance Concentric Tube Robots Via Multiple Constant-Curvature Tubes,” in </a:t>
            </a:r>
            <a:r>
              <a:rPr lang="en-US" sz="1000" i="1" dirty="0"/>
              <a:t>2023 International Symposium on Medical Robotics (ISMR)</a:t>
            </a:r>
            <a:r>
              <a:rPr lang="en-US" sz="1000" dirty="0"/>
              <a:t>, Apr. 2023, pp. 1–7. </a:t>
            </a:r>
            <a:r>
              <a:rPr lang="en-US" sz="1000" dirty="0" err="1"/>
              <a:t>doi</a:t>
            </a:r>
            <a:r>
              <a:rPr lang="en-US" sz="1000" dirty="0"/>
              <a:t>: </a:t>
            </a:r>
            <a:r>
              <a:rPr lang="en-US" sz="1000" dirty="0">
                <a:hlinkClick r:id="rId3"/>
              </a:rPr>
              <a:t>10.1109/ISMR57123.2023.10130226</a:t>
            </a:r>
            <a:r>
              <a:rPr lang="en-US" sz="1000" dirty="0"/>
              <a:t>.</a:t>
            </a:r>
          </a:p>
          <a:p>
            <a:r>
              <a:rPr lang="en-US" sz="1000" dirty="0"/>
              <a:t>R. J. Webster, J. M. Romano, and N. J. Cowan, “Mechanics of </a:t>
            </a:r>
            <a:r>
              <a:rPr lang="en-US" sz="1000" dirty="0" err="1"/>
              <a:t>Precurved</a:t>
            </a:r>
            <a:r>
              <a:rPr lang="en-US" sz="1000" dirty="0"/>
              <a:t>-Tube Continuum Robots,” </a:t>
            </a:r>
            <a:r>
              <a:rPr lang="en-US" sz="1000" i="1" dirty="0"/>
              <a:t>IEEE Trans. Robot.</a:t>
            </a:r>
            <a:r>
              <a:rPr lang="en-US" sz="1000" dirty="0"/>
              <a:t>, vol. 25, no. 1, pp. 67–78, Feb. 2009, </a:t>
            </a:r>
            <a:r>
              <a:rPr lang="en-US" sz="1000" dirty="0" err="1"/>
              <a:t>doi</a:t>
            </a:r>
            <a:r>
              <a:rPr lang="en-US" sz="1000" dirty="0"/>
              <a:t>: </a:t>
            </a:r>
            <a:r>
              <a:rPr lang="en-US" sz="1000" dirty="0">
                <a:hlinkClick r:id="rId4"/>
              </a:rPr>
              <a:t>10.1109/TRO.2008.2006868</a:t>
            </a:r>
            <a:r>
              <a:rPr lang="en-US" sz="1000" dirty="0"/>
              <a:t>.</a:t>
            </a:r>
          </a:p>
          <a:p>
            <a:pPr>
              <a:spcBef>
                <a:spcPts val="0"/>
              </a:spcBef>
              <a:spcAft>
                <a:spcPts val="0"/>
              </a:spcAft>
            </a:pPr>
            <a:endParaRPr lang="en-US" sz="1000" dirty="0"/>
          </a:p>
        </p:txBody>
      </p:sp>
      <p:pic>
        <p:nvPicPr>
          <p:cNvPr id="10" name="Picture 9">
            <a:extLst>
              <a:ext uri="{FF2B5EF4-FFF2-40B4-BE49-F238E27FC236}">
                <a16:creationId xmlns:a16="http://schemas.microsoft.com/office/drawing/2014/main" id="{82003173-7FD3-0F53-72D8-EC5195D7EA03}"/>
              </a:ext>
            </a:extLst>
          </p:cNvPr>
          <p:cNvPicPr>
            <a:picLocks noChangeAspect="1"/>
          </p:cNvPicPr>
          <p:nvPr/>
        </p:nvPicPr>
        <p:blipFill>
          <a:blip r:embed="rId5"/>
          <a:stretch>
            <a:fillRect/>
          </a:stretch>
        </p:blipFill>
        <p:spPr>
          <a:xfrm>
            <a:off x="6005946" y="3052789"/>
            <a:ext cx="5844627" cy="2893506"/>
          </a:xfrm>
          <a:prstGeom prst="rect">
            <a:avLst/>
          </a:prstGeom>
        </p:spPr>
      </p:pic>
      <p:pic>
        <p:nvPicPr>
          <p:cNvPr id="11" name="Picture 10">
            <a:extLst>
              <a:ext uri="{FF2B5EF4-FFF2-40B4-BE49-F238E27FC236}">
                <a16:creationId xmlns:a16="http://schemas.microsoft.com/office/drawing/2014/main" id="{36ABD3B9-FB85-E27C-E03C-654145B201D0}"/>
              </a:ext>
            </a:extLst>
          </p:cNvPr>
          <p:cNvPicPr>
            <a:picLocks noChangeAspect="1"/>
          </p:cNvPicPr>
          <p:nvPr/>
        </p:nvPicPr>
        <p:blipFill>
          <a:blip r:embed="rId6"/>
          <a:stretch>
            <a:fillRect/>
          </a:stretch>
        </p:blipFill>
        <p:spPr>
          <a:xfrm>
            <a:off x="2225269" y="2998923"/>
            <a:ext cx="2165009" cy="2893506"/>
          </a:xfrm>
          <a:prstGeom prst="rect">
            <a:avLst/>
          </a:prstGeom>
        </p:spPr>
      </p:pic>
    </p:spTree>
    <p:extLst>
      <p:ext uri="{BB962C8B-B14F-4D97-AF65-F5344CB8AC3E}">
        <p14:creationId xmlns:p14="http://schemas.microsoft.com/office/powerpoint/2010/main" val="1381624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70C6B-693D-B72A-09A0-156A6720FE99}"/>
              </a:ext>
            </a:extLst>
          </p:cNvPr>
          <p:cNvSpPr>
            <a:spLocks noGrp="1"/>
          </p:cNvSpPr>
          <p:nvPr>
            <p:ph type="title"/>
          </p:nvPr>
        </p:nvSpPr>
        <p:spPr/>
        <p:txBody>
          <a:bodyPr/>
          <a:lstStyle/>
          <a:p>
            <a:r>
              <a:rPr lang="en-US" dirty="0"/>
              <a:t>Background: CTR Modeling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1FD1C8-60B5-A46E-EC10-57F00C97F409}"/>
                  </a:ext>
                </a:extLst>
              </p:cNvPr>
              <p:cNvSpPr>
                <a:spLocks noGrp="1"/>
              </p:cNvSpPr>
              <p:nvPr>
                <p:ph idx="1"/>
              </p:nvPr>
            </p:nvSpPr>
            <p:spPr>
              <a:xfrm>
                <a:off x="609600" y="1554866"/>
                <a:ext cx="7224198" cy="4648200"/>
              </a:xfrm>
            </p:spPr>
            <p:txBody>
              <a:bodyPr/>
              <a:lstStyle/>
              <a:p>
                <a:pPr marL="0" indent="0" algn="ctr">
                  <a:buNone/>
                </a:pP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m:t>
                      </m:r>
                      <m:r>
                        <a:rPr lang="en-US" b="0" i="1" smtClean="0">
                          <a:latin typeface="Cambria Math" panose="02040503050406030204" pitchFamily="18" charset="0"/>
                        </a:rPr>
                        <m:t>𝐸𝐼</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2</m:t>
                              </m:r>
                            </m:sup>
                          </m:sSup>
                          <m:r>
                            <a:rPr lang="en-US" b="0" i="1" smtClean="0">
                              <a:latin typeface="Cambria Math" panose="02040503050406030204" pitchFamily="18" charset="0"/>
                            </a:rPr>
                            <m:t>𝑤</m:t>
                          </m:r>
                        </m:num>
                        <m:den>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den>
                      </m:f>
                    </m:oMath>
                  </m:oMathPara>
                </a14:m>
                <a:endParaRPr lang="en-US" dirty="0"/>
              </a:p>
              <a:p>
                <a:pPr marL="0" indent="0" algn="ctr">
                  <a:buNone/>
                </a:pPr>
                <a:endParaRPr lang="en-US" sz="1100" dirty="0"/>
              </a:p>
              <a:p>
                <a:pPr marL="0" indent="0" algn="ctr">
                  <a:buNone/>
                </a:pPr>
                <a:endParaRPr lang="en-US" sz="1100" dirty="0"/>
              </a:p>
              <a:p>
                <a:pPr marL="0" indent="0" algn="ctr">
                  <a:buNone/>
                </a:pP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m:t>
                      </m:r>
                      <m:r>
                        <a:rPr lang="en-US" b="0" i="1" smtClean="0">
                          <a:latin typeface="Cambria Math" panose="02040503050406030204" pitchFamily="18" charset="0"/>
                        </a:rPr>
                        <m:t>𝐸𝐼</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𝑟</m:t>
                          </m:r>
                        </m:den>
                      </m:f>
                      <m:r>
                        <a:rPr lang="en-US" b="0" i="1" smtClean="0">
                          <a:latin typeface="Cambria Math" panose="02040503050406030204" pitchFamily="18" charset="0"/>
                        </a:rPr>
                        <m:t>=</m:t>
                      </m:r>
                      <m:r>
                        <a:rPr lang="en-US" b="0" i="1" smtClean="0">
                          <a:latin typeface="Cambria Math" panose="02040503050406030204" pitchFamily="18" charset="0"/>
                        </a:rPr>
                        <m:t>𝐸𝐼</m:t>
                      </m:r>
                      <m:r>
                        <a:rPr lang="en-US" b="0" i="1" smtClean="0">
                          <a:latin typeface="Cambria Math" panose="02040503050406030204" pitchFamily="18" charset="0"/>
                        </a:rPr>
                        <m:t>𝜅</m:t>
                      </m:r>
                    </m:oMath>
                  </m:oMathPara>
                </a14:m>
                <a:endParaRPr lang="en-US" dirty="0"/>
              </a:p>
            </p:txBody>
          </p:sp>
        </mc:Choice>
        <mc:Fallback xmlns="">
          <p:sp>
            <p:nvSpPr>
              <p:cNvPr id="3" name="Content Placeholder 2">
                <a:extLst>
                  <a:ext uri="{FF2B5EF4-FFF2-40B4-BE49-F238E27FC236}">
                    <a16:creationId xmlns:a16="http://schemas.microsoft.com/office/drawing/2014/main" id="{041FD1C8-60B5-A46E-EC10-57F00C97F409}"/>
                  </a:ext>
                </a:extLst>
              </p:cNvPr>
              <p:cNvSpPr>
                <a:spLocks noGrp="1" noRot="1" noChangeAspect="1" noMove="1" noResize="1" noEditPoints="1" noAdjustHandles="1" noChangeArrowheads="1" noChangeShapeType="1" noTextEdit="1"/>
              </p:cNvSpPr>
              <p:nvPr>
                <p:ph idx="1"/>
              </p:nvPr>
            </p:nvSpPr>
            <p:spPr>
              <a:xfrm>
                <a:off x="609600" y="1554866"/>
                <a:ext cx="7224198" cy="4648200"/>
              </a:xfrm>
              <a:blipFill>
                <a:blip r:embed="rId3"/>
                <a:stretch>
                  <a:fillRect/>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5CAF38E6-92E4-7182-D436-9E73B1F4D9B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CCD740-D763-0FB8-65F6-A65EE25A9FB8}"/>
              </a:ext>
            </a:extLst>
          </p:cNvPr>
          <p:cNvSpPr>
            <a:spLocks noGrp="1"/>
          </p:cNvSpPr>
          <p:nvPr>
            <p:ph type="sldNum" sz="quarter" idx="12"/>
          </p:nvPr>
        </p:nvSpPr>
        <p:spPr/>
        <p:txBody>
          <a:bodyPr/>
          <a:lstStyle/>
          <a:p>
            <a:fld id="{963B0023-0CED-47F7-85AE-654F0B232C29}" type="slidenum">
              <a:rPr lang="en-US" smtClean="0"/>
              <a:pPr/>
              <a:t>5</a:t>
            </a:fld>
            <a:endParaRPr lang="en-US" dirty="0"/>
          </a:p>
        </p:txBody>
      </p:sp>
      <p:pic>
        <p:nvPicPr>
          <p:cNvPr id="6" name="Picture 5">
            <a:extLst>
              <a:ext uri="{FF2B5EF4-FFF2-40B4-BE49-F238E27FC236}">
                <a16:creationId xmlns:a16="http://schemas.microsoft.com/office/drawing/2014/main" id="{93224AAA-44F5-4613-9B79-BAE37A32932F}"/>
              </a:ext>
            </a:extLst>
          </p:cNvPr>
          <p:cNvPicPr>
            <a:picLocks noChangeAspect="1"/>
          </p:cNvPicPr>
          <p:nvPr/>
        </p:nvPicPr>
        <p:blipFill>
          <a:blip r:embed="rId4"/>
          <a:stretch>
            <a:fillRect/>
          </a:stretch>
        </p:blipFill>
        <p:spPr>
          <a:xfrm>
            <a:off x="8470404" y="1524000"/>
            <a:ext cx="2880500" cy="4648200"/>
          </a:xfrm>
          <a:prstGeom prst="rect">
            <a:avLst/>
          </a:prstGeom>
        </p:spPr>
      </p:pic>
    </p:spTree>
    <p:extLst>
      <p:ext uri="{BB962C8B-B14F-4D97-AF65-F5344CB8AC3E}">
        <p14:creationId xmlns:p14="http://schemas.microsoft.com/office/powerpoint/2010/main" val="283641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D8872-0412-3C57-6B26-357E1B1AA743}"/>
              </a:ext>
            </a:extLst>
          </p:cNvPr>
          <p:cNvSpPr>
            <a:spLocks noGrp="1"/>
          </p:cNvSpPr>
          <p:nvPr>
            <p:ph type="title"/>
          </p:nvPr>
        </p:nvSpPr>
        <p:spPr/>
        <p:txBody>
          <a:bodyPr/>
          <a:lstStyle/>
          <a:p>
            <a:r>
              <a:rPr lang="en-US" dirty="0"/>
              <a:t>Background: CTR Modeling</a:t>
            </a:r>
          </a:p>
        </p:txBody>
      </p:sp>
      <p:sp>
        <p:nvSpPr>
          <p:cNvPr id="4" name="Footer Placeholder 3">
            <a:extLst>
              <a:ext uri="{FF2B5EF4-FFF2-40B4-BE49-F238E27FC236}">
                <a16:creationId xmlns:a16="http://schemas.microsoft.com/office/drawing/2014/main" id="{F9D18775-4DF8-4AEA-B96D-8DC801C260D8}"/>
              </a:ext>
            </a:extLst>
          </p:cNvPr>
          <p:cNvSpPr>
            <a:spLocks noGrp="1"/>
          </p:cNvSpPr>
          <p:nvPr>
            <p:ph type="ftr" sz="quarter" idx="11"/>
          </p:nvPr>
        </p:nvSpPr>
        <p:spPr>
          <a:xfrm>
            <a:off x="609600" y="6400800"/>
            <a:ext cx="7970196" cy="304800"/>
          </a:xfrm>
        </p:spPr>
        <p:txBody>
          <a:bodyPr/>
          <a:lstStyle/>
          <a:p>
            <a:r>
              <a:rPr lang="en-US" sz="900" dirty="0"/>
              <a:t>R. J. Webster, J. M. Romano, and N. J. Cowan, “Mechanics of </a:t>
            </a:r>
            <a:r>
              <a:rPr lang="en-US" sz="900" dirty="0" err="1"/>
              <a:t>Precurved</a:t>
            </a:r>
            <a:r>
              <a:rPr lang="en-US" sz="900" dirty="0"/>
              <a:t>-Tube Continuum Robots,” </a:t>
            </a:r>
            <a:r>
              <a:rPr lang="en-US" sz="900" i="1" dirty="0"/>
              <a:t>IEEE Trans. Robot.</a:t>
            </a:r>
            <a:r>
              <a:rPr lang="en-US" sz="900" dirty="0"/>
              <a:t>, vol. 25, no. 1, pp. 67–78, Feb. 2009, </a:t>
            </a:r>
            <a:r>
              <a:rPr lang="en-US" sz="900" dirty="0" err="1"/>
              <a:t>doi</a:t>
            </a:r>
            <a:r>
              <a:rPr lang="en-US" sz="900" dirty="0"/>
              <a:t>: </a:t>
            </a:r>
            <a:r>
              <a:rPr lang="en-US" sz="900" dirty="0">
                <a:hlinkClick r:id="rId3"/>
              </a:rPr>
              <a:t>10.1109/TRO.2008.2006868</a:t>
            </a:r>
            <a:r>
              <a:rPr lang="en-US" sz="900" dirty="0"/>
              <a:t>.</a:t>
            </a:r>
          </a:p>
        </p:txBody>
      </p:sp>
      <p:sp>
        <p:nvSpPr>
          <p:cNvPr id="5" name="Slide Number Placeholder 4">
            <a:extLst>
              <a:ext uri="{FF2B5EF4-FFF2-40B4-BE49-F238E27FC236}">
                <a16:creationId xmlns:a16="http://schemas.microsoft.com/office/drawing/2014/main" id="{1A6E816E-5D00-E30A-FB95-7EEBADEB74E5}"/>
              </a:ext>
            </a:extLst>
          </p:cNvPr>
          <p:cNvSpPr>
            <a:spLocks noGrp="1"/>
          </p:cNvSpPr>
          <p:nvPr>
            <p:ph type="sldNum" sz="quarter" idx="12"/>
          </p:nvPr>
        </p:nvSpPr>
        <p:spPr/>
        <p:txBody>
          <a:bodyPr/>
          <a:lstStyle/>
          <a:p>
            <a:fld id="{963B0023-0CED-47F7-85AE-654F0B232C29}" type="slidenum">
              <a:rPr lang="en-US" smtClean="0"/>
              <a:pPr/>
              <a:t>6</a:t>
            </a:fld>
            <a:endParaRPr lang="en-US" dirty="0"/>
          </a:p>
        </p:txBody>
      </p:sp>
      <p:pic>
        <p:nvPicPr>
          <p:cNvPr id="7" name="Picture 6">
            <a:extLst>
              <a:ext uri="{FF2B5EF4-FFF2-40B4-BE49-F238E27FC236}">
                <a16:creationId xmlns:a16="http://schemas.microsoft.com/office/drawing/2014/main" id="{13FDD010-9430-9EEA-A32B-8D276DFE7F72}"/>
              </a:ext>
            </a:extLst>
          </p:cNvPr>
          <p:cNvPicPr>
            <a:picLocks noChangeAspect="1"/>
          </p:cNvPicPr>
          <p:nvPr/>
        </p:nvPicPr>
        <p:blipFill>
          <a:blip r:embed="rId4"/>
          <a:stretch>
            <a:fillRect/>
          </a:stretch>
        </p:blipFill>
        <p:spPr>
          <a:xfrm>
            <a:off x="7416800" y="1904114"/>
            <a:ext cx="3809427" cy="3887972"/>
          </a:xfrm>
          <a:prstGeom prst="rect">
            <a:avLst/>
          </a:prstGeom>
        </p:spPr>
      </p:pic>
      <p:pic>
        <p:nvPicPr>
          <p:cNvPr id="9" name="Picture 8">
            <a:extLst>
              <a:ext uri="{FF2B5EF4-FFF2-40B4-BE49-F238E27FC236}">
                <a16:creationId xmlns:a16="http://schemas.microsoft.com/office/drawing/2014/main" id="{793713BD-E186-D6FE-C9EA-EC6315615F67}"/>
              </a:ext>
            </a:extLst>
          </p:cNvPr>
          <p:cNvPicPr>
            <a:picLocks noChangeAspect="1"/>
          </p:cNvPicPr>
          <p:nvPr/>
        </p:nvPicPr>
        <p:blipFill>
          <a:blip r:embed="rId5"/>
          <a:stretch>
            <a:fillRect/>
          </a:stretch>
        </p:blipFill>
        <p:spPr>
          <a:xfrm>
            <a:off x="1196050" y="2972907"/>
            <a:ext cx="4577428" cy="1846041"/>
          </a:xfrm>
          <a:prstGeom prst="rect">
            <a:avLst/>
          </a:prstGeom>
        </p:spPr>
      </p:pic>
      <p:sp>
        <p:nvSpPr>
          <p:cNvPr id="10" name="TextBox 9">
            <a:extLst>
              <a:ext uri="{FF2B5EF4-FFF2-40B4-BE49-F238E27FC236}">
                <a16:creationId xmlns:a16="http://schemas.microsoft.com/office/drawing/2014/main" id="{6EF0ED46-0001-B329-26EB-9C2F15FF8DFD}"/>
              </a:ext>
            </a:extLst>
          </p:cNvPr>
          <p:cNvSpPr txBox="1"/>
          <p:nvPr/>
        </p:nvSpPr>
        <p:spPr>
          <a:xfrm>
            <a:off x="609600" y="2038350"/>
            <a:ext cx="1807535" cy="304800"/>
          </a:xfrm>
          <a:prstGeom prst="rect">
            <a:avLst/>
          </a:prstGeom>
          <a:noFill/>
        </p:spPr>
        <p:txBody>
          <a:bodyPr wrap="none" rtlCol="0">
            <a:noAutofit/>
          </a:bodyPr>
          <a:lstStyle/>
          <a:p>
            <a:pPr algn="ctr"/>
            <a:r>
              <a:rPr lang="en-US" sz="1600" dirty="0"/>
              <a:t>Young’s Modulus</a:t>
            </a:r>
          </a:p>
        </p:txBody>
      </p:sp>
      <p:sp>
        <p:nvSpPr>
          <p:cNvPr id="11" name="TextBox 10">
            <a:extLst>
              <a:ext uri="{FF2B5EF4-FFF2-40B4-BE49-F238E27FC236}">
                <a16:creationId xmlns:a16="http://schemas.microsoft.com/office/drawing/2014/main" id="{12274DA8-B9E9-6B94-4BB5-73D7889A796A}"/>
              </a:ext>
            </a:extLst>
          </p:cNvPr>
          <p:cNvSpPr txBox="1"/>
          <p:nvPr/>
        </p:nvSpPr>
        <p:spPr>
          <a:xfrm>
            <a:off x="2618702" y="1904114"/>
            <a:ext cx="1931915" cy="573272"/>
          </a:xfrm>
          <a:prstGeom prst="rect">
            <a:avLst/>
          </a:prstGeom>
          <a:noFill/>
        </p:spPr>
        <p:txBody>
          <a:bodyPr wrap="square" rtlCol="0">
            <a:noAutofit/>
          </a:bodyPr>
          <a:lstStyle/>
          <a:p>
            <a:pPr algn="ctr"/>
            <a:r>
              <a:rPr lang="en-US" sz="1600" dirty="0"/>
              <a:t>Second Moment of Area</a:t>
            </a:r>
          </a:p>
        </p:txBody>
      </p:sp>
      <p:sp>
        <p:nvSpPr>
          <p:cNvPr id="12" name="TextBox 11">
            <a:extLst>
              <a:ext uri="{FF2B5EF4-FFF2-40B4-BE49-F238E27FC236}">
                <a16:creationId xmlns:a16="http://schemas.microsoft.com/office/drawing/2014/main" id="{6F17A0D5-F3AC-2676-BF72-FA89C805EFC6}"/>
              </a:ext>
            </a:extLst>
          </p:cNvPr>
          <p:cNvSpPr txBox="1"/>
          <p:nvPr/>
        </p:nvSpPr>
        <p:spPr>
          <a:xfrm>
            <a:off x="4631355" y="2038350"/>
            <a:ext cx="2284246" cy="304800"/>
          </a:xfrm>
          <a:prstGeom prst="rect">
            <a:avLst/>
          </a:prstGeom>
          <a:noFill/>
        </p:spPr>
        <p:txBody>
          <a:bodyPr wrap="square" rtlCol="0">
            <a:noAutofit/>
          </a:bodyPr>
          <a:lstStyle/>
          <a:p>
            <a:pPr algn="ctr"/>
            <a:r>
              <a:rPr lang="en-US" sz="1600" dirty="0"/>
              <a:t>Tube Pre-Curvature</a:t>
            </a:r>
          </a:p>
        </p:txBody>
      </p:sp>
      <p:cxnSp>
        <p:nvCxnSpPr>
          <p:cNvPr id="14" name="Straight Arrow Connector 13">
            <a:extLst>
              <a:ext uri="{FF2B5EF4-FFF2-40B4-BE49-F238E27FC236}">
                <a16:creationId xmlns:a16="http://schemas.microsoft.com/office/drawing/2014/main" id="{41A96211-D6C6-D3F6-8437-BCE27AA21092}"/>
              </a:ext>
            </a:extLst>
          </p:cNvPr>
          <p:cNvCxnSpPr>
            <a:stCxn id="10" idx="2"/>
          </p:cNvCxnSpPr>
          <p:nvPr/>
        </p:nvCxnSpPr>
        <p:spPr>
          <a:xfrm>
            <a:off x="1513368" y="2343150"/>
            <a:ext cx="2580167" cy="91041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9FD8FDD-0476-959D-0BD8-4B06646EAC9D}"/>
              </a:ext>
            </a:extLst>
          </p:cNvPr>
          <p:cNvCxnSpPr>
            <a:cxnSpLocks/>
            <a:stCxn id="11" idx="2"/>
          </p:cNvCxnSpPr>
          <p:nvPr/>
        </p:nvCxnSpPr>
        <p:spPr>
          <a:xfrm>
            <a:off x="3584660" y="2477386"/>
            <a:ext cx="1167524" cy="75264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45138A5-42E0-3484-BDDA-675A32AD35FB}"/>
              </a:ext>
            </a:extLst>
          </p:cNvPr>
          <p:cNvCxnSpPr>
            <a:stCxn id="12" idx="2"/>
          </p:cNvCxnSpPr>
          <p:nvPr/>
        </p:nvCxnSpPr>
        <p:spPr>
          <a:xfrm flipH="1">
            <a:off x="5369442" y="2343150"/>
            <a:ext cx="404036" cy="88688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5BA15746-855A-9479-39C6-853582DFAB7C}"/>
              </a:ext>
            </a:extLst>
          </p:cNvPr>
          <p:cNvGrpSpPr/>
          <p:nvPr/>
        </p:nvGrpSpPr>
        <p:grpSpPr>
          <a:xfrm>
            <a:off x="7863947" y="3698240"/>
            <a:ext cx="2859933" cy="2626360"/>
            <a:chOff x="7863947" y="3698240"/>
            <a:chExt cx="2859933" cy="2626360"/>
          </a:xfrm>
        </p:grpSpPr>
        <p:sp>
          <p:nvSpPr>
            <p:cNvPr id="6" name="Arc 5">
              <a:extLst>
                <a:ext uri="{FF2B5EF4-FFF2-40B4-BE49-F238E27FC236}">
                  <a16:creationId xmlns:a16="http://schemas.microsoft.com/office/drawing/2014/main" id="{5A7D219B-1182-2082-C291-7F5C28F4140B}"/>
                </a:ext>
              </a:extLst>
            </p:cNvPr>
            <p:cNvSpPr/>
            <p:nvPr/>
          </p:nvSpPr>
          <p:spPr>
            <a:xfrm flipH="1">
              <a:off x="7863947" y="3698240"/>
              <a:ext cx="2859933" cy="2626360"/>
            </a:xfrm>
            <a:prstGeom prst="arc">
              <a:avLst>
                <a:gd name="adj1" fmla="val 14202160"/>
                <a:gd name="adj2" fmla="val 0"/>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D0340C2-5B42-9BCC-66E0-A4962C424ABE}"/>
                    </a:ext>
                  </a:extLst>
                </p:cNvPr>
                <p:cNvSpPr txBox="1"/>
                <p:nvPr/>
              </p:nvSpPr>
              <p:spPr>
                <a:xfrm>
                  <a:off x="8441208" y="4687501"/>
                  <a:ext cx="1601952" cy="1283686"/>
                </a:xfrm>
                <a:prstGeom prst="rect">
                  <a:avLst/>
                </a:prstGeom>
                <a:noFill/>
              </p:spPr>
              <p:txBody>
                <a:bodyPr wrap="none" lIns="0" tIns="0" rIns="0" bIns="0" rtlCol="0">
                  <a:noAutofit/>
                </a:bodyPr>
                <a:lstStyle/>
                <a:p>
                  <a:pPr algn="ctr"/>
                  <a14:m>
                    <m:oMathPara xmlns:m="http://schemas.openxmlformats.org/officeDocument/2006/math">
                      <m:oMathParaPr>
                        <m:jc m:val="centerGroup"/>
                      </m:oMathParaPr>
                      <m:oMath xmlns:m="http://schemas.openxmlformats.org/officeDocument/2006/math">
                        <m:sSub>
                          <m:sSubPr>
                            <m:ctrlPr>
                              <a:rPr lang="en-US" sz="2800" b="0" i="1" smtClean="0">
                                <a:solidFill>
                                  <a:srgbClr val="AB192D"/>
                                </a:solidFill>
                                <a:latin typeface="Cambria Math" panose="02040503050406030204" pitchFamily="18" charset="0"/>
                              </a:rPr>
                            </m:ctrlPr>
                          </m:sSubPr>
                          <m:e>
                            <m:r>
                              <a:rPr lang="en-US" sz="2800" b="0" i="1" smtClean="0">
                                <a:solidFill>
                                  <a:srgbClr val="AB192D"/>
                                </a:solidFill>
                                <a:latin typeface="Cambria Math" panose="02040503050406030204" pitchFamily="18" charset="0"/>
                              </a:rPr>
                              <m:t>𝑘</m:t>
                            </m:r>
                          </m:e>
                          <m:sub>
                            <m:r>
                              <a:rPr lang="en-US" sz="2800" b="0" i="1" smtClean="0">
                                <a:solidFill>
                                  <a:srgbClr val="AB192D"/>
                                </a:solidFill>
                                <a:latin typeface="Cambria Math" panose="02040503050406030204" pitchFamily="18" charset="0"/>
                              </a:rPr>
                              <m:t>𝑖</m:t>
                            </m:r>
                          </m:sub>
                        </m:sSub>
                        <m:r>
                          <a:rPr lang="en-US" sz="2800" b="0" i="1" smtClean="0">
                            <a:solidFill>
                              <a:srgbClr val="AB192D"/>
                            </a:solidFill>
                            <a:latin typeface="Cambria Math" panose="02040503050406030204" pitchFamily="18" charset="0"/>
                          </a:rPr>
                          <m:t>=</m:t>
                        </m:r>
                        <m:f>
                          <m:fPr>
                            <m:ctrlPr>
                              <a:rPr lang="en-US" sz="2800" b="0" i="1" smtClean="0">
                                <a:solidFill>
                                  <a:srgbClr val="AB192D"/>
                                </a:solidFill>
                                <a:latin typeface="Cambria Math" panose="02040503050406030204" pitchFamily="18" charset="0"/>
                              </a:rPr>
                            </m:ctrlPr>
                          </m:fPr>
                          <m:num>
                            <m:r>
                              <a:rPr lang="en-US" sz="2800" b="0" i="1" smtClean="0">
                                <a:solidFill>
                                  <a:srgbClr val="AB192D"/>
                                </a:solidFill>
                                <a:latin typeface="Cambria Math" panose="02040503050406030204" pitchFamily="18" charset="0"/>
                              </a:rPr>
                              <m:t>1</m:t>
                            </m:r>
                          </m:num>
                          <m:den>
                            <m:sSub>
                              <m:sSubPr>
                                <m:ctrlPr>
                                  <a:rPr lang="en-US" sz="2800" b="0" i="1" smtClean="0">
                                    <a:solidFill>
                                      <a:srgbClr val="AB192D"/>
                                    </a:solidFill>
                                    <a:latin typeface="Cambria Math" panose="02040503050406030204" pitchFamily="18" charset="0"/>
                                  </a:rPr>
                                </m:ctrlPr>
                              </m:sSubPr>
                              <m:e>
                                <m:r>
                                  <a:rPr lang="en-US" sz="2800" b="0" i="1" smtClean="0">
                                    <a:solidFill>
                                      <a:srgbClr val="AB192D"/>
                                    </a:solidFill>
                                    <a:latin typeface="Cambria Math" panose="02040503050406030204" pitchFamily="18" charset="0"/>
                                  </a:rPr>
                                  <m:t>𝑟</m:t>
                                </m:r>
                              </m:e>
                              <m:sub>
                                <m:r>
                                  <a:rPr lang="en-US" sz="2800" b="0" i="1" smtClean="0">
                                    <a:solidFill>
                                      <a:srgbClr val="AB192D"/>
                                    </a:solidFill>
                                    <a:latin typeface="Cambria Math" panose="02040503050406030204" pitchFamily="18" charset="0"/>
                                  </a:rPr>
                                  <m:t>𝑖</m:t>
                                </m:r>
                              </m:sub>
                            </m:sSub>
                          </m:den>
                        </m:f>
                      </m:oMath>
                    </m:oMathPara>
                  </a14:m>
                  <a:endParaRPr lang="en-US" sz="2800" dirty="0" err="1">
                    <a:solidFill>
                      <a:srgbClr val="AB192D"/>
                    </a:solidFill>
                  </a:endParaRPr>
                </a:p>
              </p:txBody>
            </p:sp>
          </mc:Choice>
          <mc:Fallback xmlns="">
            <p:sp>
              <p:nvSpPr>
                <p:cNvPr id="6" name="TextBox 5">
                  <a:extLst>
                    <a:ext uri="{FF2B5EF4-FFF2-40B4-BE49-F238E27FC236}">
                      <a16:creationId xmlns:a16="http://schemas.microsoft.com/office/drawing/2014/main" id="{CEE0D970-6F73-564E-0201-1D1B189C61C6}"/>
                    </a:ext>
                  </a:extLst>
                </p:cNvPr>
                <p:cNvSpPr txBox="1">
                  <a:spLocks noRot="1" noChangeAspect="1" noMove="1" noResize="1" noEditPoints="1" noAdjustHandles="1" noChangeArrowheads="1" noChangeShapeType="1" noTextEdit="1"/>
                </p:cNvSpPr>
                <p:nvPr/>
              </p:nvSpPr>
              <p:spPr>
                <a:xfrm>
                  <a:off x="8441208" y="4687501"/>
                  <a:ext cx="1601952" cy="1283686"/>
                </a:xfrm>
                <a:prstGeom prst="rect">
                  <a:avLst/>
                </a:prstGeom>
                <a:blipFill>
                  <a:blip r:embed="rId6"/>
                  <a:stretch>
                    <a:fillRect/>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E6D5E21E-4F36-127F-A9F1-B08833A1792F}"/>
                </a:ext>
              </a:extLst>
            </p:cNvPr>
            <p:cNvCxnSpPr>
              <a:cxnSpLocks/>
            </p:cNvCxnSpPr>
            <p:nvPr/>
          </p:nvCxnSpPr>
          <p:spPr>
            <a:xfrm flipH="1" flipV="1">
              <a:off x="8579796" y="3906520"/>
              <a:ext cx="137484" cy="106151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74332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70C6B-693D-B72A-09A0-156A6720FE99}"/>
              </a:ext>
            </a:extLst>
          </p:cNvPr>
          <p:cNvSpPr>
            <a:spLocks noGrp="1"/>
          </p:cNvSpPr>
          <p:nvPr>
            <p:ph type="title"/>
          </p:nvPr>
        </p:nvSpPr>
        <p:spPr/>
        <p:txBody>
          <a:bodyPr/>
          <a:lstStyle/>
          <a:p>
            <a:r>
              <a:rPr lang="en-US" dirty="0"/>
              <a:t>Background: CTR Modeling</a:t>
            </a:r>
          </a:p>
        </p:txBody>
      </p:sp>
      <p:sp>
        <p:nvSpPr>
          <p:cNvPr id="4" name="Footer Placeholder 3">
            <a:extLst>
              <a:ext uri="{FF2B5EF4-FFF2-40B4-BE49-F238E27FC236}">
                <a16:creationId xmlns:a16="http://schemas.microsoft.com/office/drawing/2014/main" id="{5CAF38E6-92E4-7182-D436-9E73B1F4D9B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2CCD740-D763-0FB8-65F6-A65EE25A9FB8}"/>
              </a:ext>
            </a:extLst>
          </p:cNvPr>
          <p:cNvSpPr>
            <a:spLocks noGrp="1"/>
          </p:cNvSpPr>
          <p:nvPr>
            <p:ph type="sldNum" sz="quarter" idx="12"/>
          </p:nvPr>
        </p:nvSpPr>
        <p:spPr/>
        <p:txBody>
          <a:bodyPr/>
          <a:lstStyle/>
          <a:p>
            <a:fld id="{963B0023-0CED-47F7-85AE-654F0B232C29}" type="slidenum">
              <a:rPr lang="en-US" smtClean="0"/>
              <a:pPr/>
              <a:t>7</a:t>
            </a:fld>
            <a:endParaRPr lang="en-US" dirty="0"/>
          </a:p>
        </p:txBody>
      </p:sp>
      <p:pic>
        <p:nvPicPr>
          <p:cNvPr id="10" name="Picture 9">
            <a:extLst>
              <a:ext uri="{FF2B5EF4-FFF2-40B4-BE49-F238E27FC236}">
                <a16:creationId xmlns:a16="http://schemas.microsoft.com/office/drawing/2014/main" id="{6516921D-0844-8926-93D3-D816144A4E17}"/>
              </a:ext>
            </a:extLst>
          </p:cNvPr>
          <p:cNvPicPr>
            <a:picLocks noChangeAspect="1"/>
          </p:cNvPicPr>
          <p:nvPr/>
        </p:nvPicPr>
        <p:blipFill>
          <a:blip r:embed="rId3"/>
          <a:stretch>
            <a:fillRect/>
          </a:stretch>
        </p:blipFill>
        <p:spPr>
          <a:xfrm>
            <a:off x="1489075" y="2361597"/>
            <a:ext cx="5048250" cy="2343150"/>
          </a:xfrm>
          <a:prstGeom prst="rect">
            <a:avLst/>
          </a:prstGeom>
        </p:spPr>
      </p:pic>
      <p:pic>
        <p:nvPicPr>
          <p:cNvPr id="11" name="Picture 10">
            <a:extLst>
              <a:ext uri="{FF2B5EF4-FFF2-40B4-BE49-F238E27FC236}">
                <a16:creationId xmlns:a16="http://schemas.microsoft.com/office/drawing/2014/main" id="{9FD1C29D-27CE-22C0-36E4-0226F2024C88}"/>
              </a:ext>
            </a:extLst>
          </p:cNvPr>
          <p:cNvPicPr>
            <a:picLocks noChangeAspect="1"/>
          </p:cNvPicPr>
          <p:nvPr/>
        </p:nvPicPr>
        <p:blipFill>
          <a:blip r:embed="rId4"/>
          <a:stretch>
            <a:fillRect/>
          </a:stretch>
        </p:blipFill>
        <p:spPr>
          <a:xfrm>
            <a:off x="7625144" y="1832147"/>
            <a:ext cx="3809427" cy="3887972"/>
          </a:xfrm>
          <a:prstGeom prst="rect">
            <a:avLst/>
          </a:prstGeom>
        </p:spPr>
      </p:pic>
      <p:sp>
        <p:nvSpPr>
          <p:cNvPr id="12" name="TextBox 11">
            <a:extLst>
              <a:ext uri="{FF2B5EF4-FFF2-40B4-BE49-F238E27FC236}">
                <a16:creationId xmlns:a16="http://schemas.microsoft.com/office/drawing/2014/main" id="{F90EE82F-C377-7C61-726D-955FC02F8747}"/>
              </a:ext>
            </a:extLst>
          </p:cNvPr>
          <p:cNvSpPr txBox="1"/>
          <p:nvPr/>
        </p:nvSpPr>
        <p:spPr>
          <a:xfrm>
            <a:off x="609600" y="2038349"/>
            <a:ext cx="2330370" cy="589103"/>
          </a:xfrm>
          <a:prstGeom prst="rect">
            <a:avLst/>
          </a:prstGeom>
          <a:noFill/>
        </p:spPr>
        <p:txBody>
          <a:bodyPr wrap="square" rtlCol="0">
            <a:noAutofit/>
          </a:bodyPr>
          <a:lstStyle/>
          <a:p>
            <a:pPr algn="ctr"/>
            <a:r>
              <a:rPr lang="en-US" sz="1600" dirty="0"/>
              <a:t>Maximum Allowable Curvature</a:t>
            </a:r>
          </a:p>
        </p:txBody>
      </p:sp>
      <p:cxnSp>
        <p:nvCxnSpPr>
          <p:cNvPr id="13" name="Straight Arrow Connector 12">
            <a:extLst>
              <a:ext uri="{FF2B5EF4-FFF2-40B4-BE49-F238E27FC236}">
                <a16:creationId xmlns:a16="http://schemas.microsoft.com/office/drawing/2014/main" id="{BAD876BE-51F7-B3E5-4643-128BFDC02960}"/>
              </a:ext>
            </a:extLst>
          </p:cNvPr>
          <p:cNvCxnSpPr>
            <a:cxnSpLocks/>
            <a:stCxn id="12" idx="2"/>
          </p:cNvCxnSpPr>
          <p:nvPr/>
        </p:nvCxnSpPr>
        <p:spPr>
          <a:xfrm flipH="1">
            <a:off x="1759352" y="2627452"/>
            <a:ext cx="15433" cy="6597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FE8EF7B-2924-0182-8F1E-D93211F9B260}"/>
              </a:ext>
            </a:extLst>
          </p:cNvPr>
          <p:cNvSpPr txBox="1"/>
          <p:nvPr/>
        </p:nvSpPr>
        <p:spPr>
          <a:xfrm>
            <a:off x="5266481" y="1743797"/>
            <a:ext cx="1814754" cy="589103"/>
          </a:xfrm>
          <a:prstGeom prst="rect">
            <a:avLst/>
          </a:prstGeom>
          <a:noFill/>
        </p:spPr>
        <p:txBody>
          <a:bodyPr wrap="square" rtlCol="0">
            <a:noAutofit/>
          </a:bodyPr>
          <a:lstStyle/>
          <a:p>
            <a:pPr algn="ctr"/>
            <a:r>
              <a:rPr lang="en-US" sz="1600" dirty="0"/>
              <a:t>Material Strain Limit</a:t>
            </a:r>
          </a:p>
        </p:txBody>
      </p:sp>
      <p:cxnSp>
        <p:nvCxnSpPr>
          <p:cNvPr id="17" name="Straight Arrow Connector 16">
            <a:extLst>
              <a:ext uri="{FF2B5EF4-FFF2-40B4-BE49-F238E27FC236}">
                <a16:creationId xmlns:a16="http://schemas.microsoft.com/office/drawing/2014/main" id="{7D2C220E-61D1-83EC-F13C-9282D3FF8625}"/>
              </a:ext>
            </a:extLst>
          </p:cNvPr>
          <p:cNvCxnSpPr>
            <a:cxnSpLocks/>
          </p:cNvCxnSpPr>
          <p:nvPr/>
        </p:nvCxnSpPr>
        <p:spPr>
          <a:xfrm flipH="1">
            <a:off x="5266481" y="2270760"/>
            <a:ext cx="586451" cy="48401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70CDDE8-AB7F-53C0-2EDD-4CD832604A55}"/>
              </a:ext>
            </a:extLst>
          </p:cNvPr>
          <p:cNvSpPr txBox="1"/>
          <p:nvPr/>
        </p:nvSpPr>
        <p:spPr>
          <a:xfrm>
            <a:off x="1759352" y="5259637"/>
            <a:ext cx="2330370" cy="589103"/>
          </a:xfrm>
          <a:prstGeom prst="rect">
            <a:avLst/>
          </a:prstGeom>
          <a:noFill/>
        </p:spPr>
        <p:txBody>
          <a:bodyPr wrap="square" rtlCol="0">
            <a:noAutofit/>
          </a:bodyPr>
          <a:lstStyle/>
          <a:p>
            <a:pPr algn="ctr"/>
            <a:r>
              <a:rPr lang="en-US" sz="1600" dirty="0"/>
              <a:t>Tube Diameter</a:t>
            </a:r>
          </a:p>
        </p:txBody>
      </p:sp>
      <p:cxnSp>
        <p:nvCxnSpPr>
          <p:cNvPr id="24" name="Straight Arrow Connector 23">
            <a:extLst>
              <a:ext uri="{FF2B5EF4-FFF2-40B4-BE49-F238E27FC236}">
                <a16:creationId xmlns:a16="http://schemas.microsoft.com/office/drawing/2014/main" id="{B055F38E-1391-151F-8AC8-69E08635BF8C}"/>
              </a:ext>
            </a:extLst>
          </p:cNvPr>
          <p:cNvCxnSpPr>
            <a:cxnSpLocks/>
            <a:stCxn id="23" idx="0"/>
          </p:cNvCxnSpPr>
          <p:nvPr/>
        </p:nvCxnSpPr>
        <p:spPr>
          <a:xfrm flipV="1">
            <a:off x="2924537" y="4399280"/>
            <a:ext cx="540023" cy="8603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3461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7A925-D6AE-BA81-3BB1-704380C53279}"/>
              </a:ext>
            </a:extLst>
          </p:cNvPr>
          <p:cNvSpPr>
            <a:spLocks noGrp="1"/>
          </p:cNvSpPr>
          <p:nvPr>
            <p:ph type="title"/>
          </p:nvPr>
        </p:nvSpPr>
        <p:spPr/>
        <p:txBody>
          <a:bodyPr/>
          <a:lstStyle/>
          <a:p>
            <a:r>
              <a:rPr lang="en-US" dirty="0"/>
              <a:t>Background: CTR Tube Material</a:t>
            </a:r>
          </a:p>
        </p:txBody>
      </p:sp>
      <p:sp>
        <p:nvSpPr>
          <p:cNvPr id="3" name="Content Placeholder 2">
            <a:extLst>
              <a:ext uri="{FF2B5EF4-FFF2-40B4-BE49-F238E27FC236}">
                <a16:creationId xmlns:a16="http://schemas.microsoft.com/office/drawing/2014/main" id="{E9DA726A-941C-EBA6-386F-D73EDC6A7731}"/>
              </a:ext>
            </a:extLst>
          </p:cNvPr>
          <p:cNvSpPr>
            <a:spLocks noGrp="1"/>
          </p:cNvSpPr>
          <p:nvPr>
            <p:ph idx="1"/>
          </p:nvPr>
        </p:nvSpPr>
        <p:spPr/>
        <p:txBody>
          <a:bodyPr/>
          <a:lstStyle/>
          <a:p>
            <a:r>
              <a:rPr lang="en-US" dirty="0"/>
              <a:t>Nitinol is the material of choice for CTR tubes</a:t>
            </a:r>
          </a:p>
          <a:p>
            <a:pPr lvl="1"/>
            <a:r>
              <a:rPr lang="en-US" dirty="0"/>
              <a:t>Difficult to pre-curve</a:t>
            </a:r>
          </a:p>
          <a:p>
            <a:pPr lvl="1"/>
            <a:r>
              <a:rPr lang="en-US" dirty="0"/>
              <a:t>Expensive</a:t>
            </a:r>
          </a:p>
          <a:p>
            <a:pPr lvl="1"/>
            <a:r>
              <a:rPr lang="en-US" dirty="0"/>
              <a:t>Long lead times</a:t>
            </a:r>
          </a:p>
        </p:txBody>
      </p:sp>
      <p:sp>
        <p:nvSpPr>
          <p:cNvPr id="5" name="Slide Number Placeholder 4">
            <a:extLst>
              <a:ext uri="{FF2B5EF4-FFF2-40B4-BE49-F238E27FC236}">
                <a16:creationId xmlns:a16="http://schemas.microsoft.com/office/drawing/2014/main" id="{6A92B71E-C38D-5B94-814A-AD44AAE42999}"/>
              </a:ext>
            </a:extLst>
          </p:cNvPr>
          <p:cNvSpPr>
            <a:spLocks noGrp="1"/>
          </p:cNvSpPr>
          <p:nvPr>
            <p:ph type="sldNum" sz="quarter" idx="12"/>
          </p:nvPr>
        </p:nvSpPr>
        <p:spPr/>
        <p:txBody>
          <a:bodyPr/>
          <a:lstStyle/>
          <a:p>
            <a:fld id="{963B0023-0CED-47F7-85AE-654F0B232C29}" type="slidenum">
              <a:rPr lang="en-US" smtClean="0"/>
              <a:pPr/>
              <a:t>8</a:t>
            </a:fld>
            <a:endParaRPr lang="en-US" dirty="0"/>
          </a:p>
        </p:txBody>
      </p:sp>
      <p:grpSp>
        <p:nvGrpSpPr>
          <p:cNvPr id="4" name="Group 3">
            <a:extLst>
              <a:ext uri="{FF2B5EF4-FFF2-40B4-BE49-F238E27FC236}">
                <a16:creationId xmlns:a16="http://schemas.microsoft.com/office/drawing/2014/main" id="{5011E26D-B44F-5F2D-26FA-540D1F9758C7}"/>
              </a:ext>
            </a:extLst>
          </p:cNvPr>
          <p:cNvGrpSpPr/>
          <p:nvPr/>
        </p:nvGrpSpPr>
        <p:grpSpPr>
          <a:xfrm>
            <a:off x="5962261" y="2476500"/>
            <a:ext cx="5620139" cy="3252496"/>
            <a:chOff x="6471875" y="3009372"/>
            <a:chExt cx="4573635" cy="2658298"/>
          </a:xfrm>
        </p:grpSpPr>
        <p:pic>
          <p:nvPicPr>
            <p:cNvPr id="6" name="Picture 5">
              <a:extLst>
                <a:ext uri="{FF2B5EF4-FFF2-40B4-BE49-F238E27FC236}">
                  <a16:creationId xmlns:a16="http://schemas.microsoft.com/office/drawing/2014/main" id="{1F7C6450-D184-FA2D-AD5A-4B7041ED5449}"/>
                </a:ext>
              </a:extLst>
            </p:cNvPr>
            <p:cNvPicPr>
              <a:picLocks noChangeAspect="1"/>
            </p:cNvPicPr>
            <p:nvPr/>
          </p:nvPicPr>
          <p:blipFill>
            <a:blip r:embed="rId3"/>
            <a:stretch>
              <a:fillRect/>
            </a:stretch>
          </p:blipFill>
          <p:spPr>
            <a:xfrm>
              <a:off x="6471875" y="3241040"/>
              <a:ext cx="4573635" cy="2426630"/>
            </a:xfrm>
            <a:prstGeom prst="rect">
              <a:avLst/>
            </a:prstGeom>
          </p:spPr>
        </p:pic>
        <p:sp>
          <p:nvSpPr>
            <p:cNvPr id="7" name="TextBox 6">
              <a:extLst>
                <a:ext uri="{FF2B5EF4-FFF2-40B4-BE49-F238E27FC236}">
                  <a16:creationId xmlns:a16="http://schemas.microsoft.com/office/drawing/2014/main" id="{62E2ADF1-891B-8754-6C56-EFBACCB65878}"/>
                </a:ext>
              </a:extLst>
            </p:cNvPr>
            <p:cNvSpPr txBox="1"/>
            <p:nvPr/>
          </p:nvSpPr>
          <p:spPr>
            <a:xfrm>
              <a:off x="7136419" y="3009372"/>
              <a:ext cx="3454400" cy="360680"/>
            </a:xfrm>
            <a:prstGeom prst="rect">
              <a:avLst/>
            </a:prstGeom>
            <a:noFill/>
          </p:spPr>
          <p:txBody>
            <a:bodyPr wrap="none" rtlCol="0">
              <a:noAutofit/>
            </a:bodyPr>
            <a:lstStyle/>
            <a:p>
              <a:pPr algn="ctr"/>
              <a:r>
                <a:rPr lang="en-US" sz="1600" dirty="0"/>
                <a:t>Stress-Strain Curve of Nitinol</a:t>
              </a:r>
            </a:p>
          </p:txBody>
        </p:sp>
      </p:grpSp>
      <p:sp>
        <p:nvSpPr>
          <p:cNvPr id="9" name="Footer Placeholder 3">
            <a:extLst>
              <a:ext uri="{FF2B5EF4-FFF2-40B4-BE49-F238E27FC236}">
                <a16:creationId xmlns:a16="http://schemas.microsoft.com/office/drawing/2014/main" id="{4C040381-BF51-7F0B-FA53-41A689FDAB72}"/>
              </a:ext>
            </a:extLst>
          </p:cNvPr>
          <p:cNvSpPr>
            <a:spLocks noGrp="1"/>
          </p:cNvSpPr>
          <p:nvPr>
            <p:ph type="ftr" sz="quarter" idx="11"/>
          </p:nvPr>
        </p:nvSpPr>
        <p:spPr>
          <a:xfrm>
            <a:off x="609599" y="5885234"/>
            <a:ext cx="8106383" cy="896566"/>
          </a:xfrm>
        </p:spPr>
        <p:txBody>
          <a:bodyPr/>
          <a:lstStyle/>
          <a:p>
            <a:pPr>
              <a:spcBef>
                <a:spcPts val="0"/>
              </a:spcBef>
              <a:spcAft>
                <a:spcPts val="0"/>
              </a:spcAft>
            </a:pPr>
            <a:r>
              <a:rPr lang="en-US" sz="1000" dirty="0">
                <a:effectLst/>
              </a:rPr>
              <a:t>T. K. Morimoto and A. M. Okamura, “Design of 3-D Printed Concentric Tube Robots,” </a:t>
            </a:r>
            <a:r>
              <a:rPr lang="en-US" sz="1000" i="1" dirty="0">
                <a:effectLst/>
              </a:rPr>
              <a:t>IEEE Trans. Robot.</a:t>
            </a:r>
            <a:r>
              <a:rPr lang="en-US" sz="1000" dirty="0">
                <a:effectLst/>
              </a:rPr>
              <a:t>, vol. 32, no. 6, pp. 1419–1430, Dec. 2016, </a:t>
            </a:r>
            <a:r>
              <a:rPr lang="en-US" sz="1000" dirty="0" err="1">
                <a:effectLst/>
              </a:rPr>
              <a:t>doi</a:t>
            </a:r>
            <a:r>
              <a:rPr lang="en-US" sz="1000" dirty="0">
                <a:effectLst/>
              </a:rPr>
              <a:t>: </a:t>
            </a:r>
            <a:r>
              <a:rPr lang="en-US" sz="1000" dirty="0">
                <a:effectLst/>
                <a:hlinkClick r:id="rId4"/>
              </a:rPr>
              <a:t>10.1109/TRO.2016.2602368</a:t>
            </a:r>
            <a:r>
              <a:rPr lang="en-US" sz="1000" dirty="0">
                <a:effectLst/>
              </a:rPr>
              <a:t>.</a:t>
            </a:r>
          </a:p>
          <a:p>
            <a:pPr>
              <a:spcBef>
                <a:spcPts val="0"/>
              </a:spcBef>
              <a:spcAft>
                <a:spcPts val="0"/>
              </a:spcAft>
            </a:pPr>
            <a:r>
              <a:rPr lang="en-US" sz="1000" dirty="0"/>
              <a:t>N. E. Pacheco, J. B. Gafford, M. A. Atalla, R. J. Webster, and L. Fichera, “Beyond Constant Curvature: A New Mechanics Model for Unidirectional Notched-Tube Continuum Wrists,” J Med Robot Res, vol. 6, no. 1–2, p. 2140004, 2021, </a:t>
            </a:r>
            <a:r>
              <a:rPr lang="en-US" sz="1000" dirty="0" err="1"/>
              <a:t>doi</a:t>
            </a:r>
            <a:r>
              <a:rPr lang="en-US" sz="1000" dirty="0"/>
              <a:t>: </a:t>
            </a:r>
            <a:r>
              <a:rPr lang="en-US" sz="1000" dirty="0">
                <a:hlinkClick r:id="rId5">
                  <a:extLst>
                    <a:ext uri="{A12FA001-AC4F-418D-AE19-62706E023703}">
                      <ahyp:hlinkClr xmlns:ahyp="http://schemas.microsoft.com/office/drawing/2018/hyperlinkcolor" val="tx"/>
                    </a:ext>
                  </a:extLst>
                </a:hlinkClick>
              </a:rPr>
              <a:t>10.1142/s2424905x21400043</a:t>
            </a:r>
            <a:r>
              <a:rPr lang="en-US" sz="1000" dirty="0"/>
              <a:t>.</a:t>
            </a:r>
          </a:p>
        </p:txBody>
      </p:sp>
    </p:spTree>
    <p:extLst>
      <p:ext uri="{BB962C8B-B14F-4D97-AF65-F5344CB8AC3E}">
        <p14:creationId xmlns:p14="http://schemas.microsoft.com/office/powerpoint/2010/main" val="4277117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7A925-D6AE-BA81-3BB1-704380C53279}"/>
              </a:ext>
            </a:extLst>
          </p:cNvPr>
          <p:cNvSpPr>
            <a:spLocks noGrp="1"/>
          </p:cNvSpPr>
          <p:nvPr>
            <p:ph type="title"/>
          </p:nvPr>
        </p:nvSpPr>
        <p:spPr/>
        <p:txBody>
          <a:bodyPr/>
          <a:lstStyle/>
          <a:p>
            <a:r>
              <a:rPr lang="en-US" dirty="0"/>
              <a:t>Background: CTR Tube Material</a:t>
            </a:r>
          </a:p>
        </p:txBody>
      </p:sp>
      <p:sp>
        <p:nvSpPr>
          <p:cNvPr id="3" name="Content Placeholder 2">
            <a:extLst>
              <a:ext uri="{FF2B5EF4-FFF2-40B4-BE49-F238E27FC236}">
                <a16:creationId xmlns:a16="http://schemas.microsoft.com/office/drawing/2014/main" id="{E9DA726A-941C-EBA6-386F-D73EDC6A7731}"/>
              </a:ext>
            </a:extLst>
          </p:cNvPr>
          <p:cNvSpPr>
            <a:spLocks noGrp="1"/>
          </p:cNvSpPr>
          <p:nvPr>
            <p:ph idx="1"/>
          </p:nvPr>
        </p:nvSpPr>
        <p:spPr/>
        <p:txBody>
          <a:bodyPr/>
          <a:lstStyle/>
          <a:p>
            <a:r>
              <a:rPr lang="en-US" dirty="0"/>
              <a:t>Researchers turning to plastics as a more accessible alternative</a:t>
            </a:r>
          </a:p>
        </p:txBody>
      </p:sp>
      <p:sp>
        <p:nvSpPr>
          <p:cNvPr id="5" name="Slide Number Placeholder 4">
            <a:extLst>
              <a:ext uri="{FF2B5EF4-FFF2-40B4-BE49-F238E27FC236}">
                <a16:creationId xmlns:a16="http://schemas.microsoft.com/office/drawing/2014/main" id="{6A92B71E-C38D-5B94-814A-AD44AAE42999}"/>
              </a:ext>
            </a:extLst>
          </p:cNvPr>
          <p:cNvSpPr>
            <a:spLocks noGrp="1"/>
          </p:cNvSpPr>
          <p:nvPr>
            <p:ph type="sldNum" sz="quarter" idx="12"/>
          </p:nvPr>
        </p:nvSpPr>
        <p:spPr/>
        <p:txBody>
          <a:bodyPr/>
          <a:lstStyle/>
          <a:p>
            <a:fld id="{963B0023-0CED-47F7-85AE-654F0B232C29}" type="slidenum">
              <a:rPr lang="en-US" smtClean="0"/>
              <a:pPr/>
              <a:t>9</a:t>
            </a:fld>
            <a:endParaRPr lang="en-US" dirty="0"/>
          </a:p>
        </p:txBody>
      </p:sp>
      <p:pic>
        <p:nvPicPr>
          <p:cNvPr id="7" name="Picture 6">
            <a:extLst>
              <a:ext uri="{FF2B5EF4-FFF2-40B4-BE49-F238E27FC236}">
                <a16:creationId xmlns:a16="http://schemas.microsoft.com/office/drawing/2014/main" id="{44B23C74-6D4E-8B72-0B89-E3613DEFDC20}"/>
              </a:ext>
            </a:extLst>
          </p:cNvPr>
          <p:cNvPicPr>
            <a:picLocks noChangeAspect="1"/>
          </p:cNvPicPr>
          <p:nvPr/>
        </p:nvPicPr>
        <p:blipFill>
          <a:blip r:embed="rId3"/>
          <a:stretch>
            <a:fillRect/>
          </a:stretch>
        </p:blipFill>
        <p:spPr>
          <a:xfrm>
            <a:off x="304800" y="2393002"/>
            <a:ext cx="5725684" cy="3195427"/>
          </a:xfrm>
          <a:prstGeom prst="rect">
            <a:avLst/>
          </a:prstGeom>
        </p:spPr>
      </p:pic>
      <p:pic>
        <p:nvPicPr>
          <p:cNvPr id="9" name="Picture 8">
            <a:extLst>
              <a:ext uri="{FF2B5EF4-FFF2-40B4-BE49-F238E27FC236}">
                <a16:creationId xmlns:a16="http://schemas.microsoft.com/office/drawing/2014/main" id="{CED3478A-20B9-7B23-B63F-D53151F75E36}"/>
              </a:ext>
            </a:extLst>
          </p:cNvPr>
          <p:cNvPicPr>
            <a:picLocks noChangeAspect="1"/>
          </p:cNvPicPr>
          <p:nvPr/>
        </p:nvPicPr>
        <p:blipFill>
          <a:blip r:embed="rId4"/>
          <a:stretch>
            <a:fillRect/>
          </a:stretch>
        </p:blipFill>
        <p:spPr>
          <a:xfrm>
            <a:off x="6161516" y="2956716"/>
            <a:ext cx="5725684" cy="2067999"/>
          </a:xfrm>
          <a:prstGeom prst="rect">
            <a:avLst/>
          </a:prstGeom>
        </p:spPr>
      </p:pic>
      <p:sp>
        <p:nvSpPr>
          <p:cNvPr id="11" name="Footer Placeholder 3">
            <a:extLst>
              <a:ext uri="{FF2B5EF4-FFF2-40B4-BE49-F238E27FC236}">
                <a16:creationId xmlns:a16="http://schemas.microsoft.com/office/drawing/2014/main" id="{711B65A3-567B-68F3-6B5E-06332FDB63A7}"/>
              </a:ext>
            </a:extLst>
          </p:cNvPr>
          <p:cNvSpPr>
            <a:spLocks noGrp="1"/>
          </p:cNvSpPr>
          <p:nvPr>
            <p:ph type="ftr" sz="quarter" idx="11"/>
          </p:nvPr>
        </p:nvSpPr>
        <p:spPr>
          <a:xfrm>
            <a:off x="609599" y="6172200"/>
            <a:ext cx="8106383" cy="609600"/>
          </a:xfrm>
        </p:spPr>
        <p:txBody>
          <a:bodyPr/>
          <a:lstStyle/>
          <a:p>
            <a:pPr>
              <a:spcBef>
                <a:spcPts val="0"/>
              </a:spcBef>
              <a:spcAft>
                <a:spcPts val="0"/>
              </a:spcAft>
            </a:pPr>
            <a:r>
              <a:rPr lang="en-US" sz="1000" dirty="0">
                <a:effectLst/>
              </a:rPr>
              <a:t>T. K. Morimoto and A. M. Okamura, “Design of 3-D Printed Concentric Tube Robots,” </a:t>
            </a:r>
            <a:r>
              <a:rPr lang="en-US" sz="1000" i="1" dirty="0">
                <a:effectLst/>
              </a:rPr>
              <a:t>IEEE Trans. Robot.</a:t>
            </a:r>
            <a:r>
              <a:rPr lang="en-US" sz="1000" dirty="0">
                <a:effectLst/>
              </a:rPr>
              <a:t>, vol. 32, no. 6, pp. </a:t>
            </a:r>
            <a:r>
              <a:rPr lang="en-US" sz="1000" dirty="0"/>
              <a:t>1419–1430, Dec. 2016, </a:t>
            </a:r>
            <a:r>
              <a:rPr lang="en-US" sz="1000" dirty="0" err="1"/>
              <a:t>doi</a:t>
            </a:r>
            <a:r>
              <a:rPr lang="en-US" sz="1000" dirty="0"/>
              <a:t>: </a:t>
            </a:r>
            <a:r>
              <a:rPr lang="en-US" sz="1000" dirty="0">
                <a:hlinkClick r:id="rId5">
                  <a:extLst>
                    <a:ext uri="{A12FA001-AC4F-418D-AE19-62706E023703}">
                      <ahyp:hlinkClr xmlns:ahyp="http://schemas.microsoft.com/office/drawing/2018/hyperlinkcolor" val="tx"/>
                    </a:ext>
                  </a:extLst>
                </a:hlinkClick>
              </a:rPr>
              <a:t>10.1109/TRO.2016.2602368</a:t>
            </a:r>
            <a:r>
              <a:rPr lang="en-US" sz="1000" dirty="0"/>
              <a:t>.</a:t>
            </a:r>
          </a:p>
          <a:p>
            <a:pPr>
              <a:spcBef>
                <a:spcPts val="0"/>
              </a:spcBef>
              <a:spcAft>
                <a:spcPts val="0"/>
              </a:spcAft>
            </a:pPr>
            <a:r>
              <a:rPr lang="en-US" sz="1000" dirty="0"/>
              <a:t>K. Picho and B. Persons, “Multi Jet Fusion of Nylon-12: A Viable Method to 3D-print Concentric Tube Robots?”.</a:t>
            </a:r>
          </a:p>
          <a:p>
            <a:pPr>
              <a:spcBef>
                <a:spcPts val="0"/>
              </a:spcBef>
              <a:spcAft>
                <a:spcPts val="0"/>
              </a:spcAft>
            </a:pPr>
            <a:endParaRPr lang="en-US" sz="1000" dirty="0"/>
          </a:p>
        </p:txBody>
      </p:sp>
    </p:spTree>
    <p:extLst>
      <p:ext uri="{BB962C8B-B14F-4D97-AF65-F5344CB8AC3E}">
        <p14:creationId xmlns:p14="http://schemas.microsoft.com/office/powerpoint/2010/main" val="188568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937CE-5EFF-E99B-D2CB-DFD3AFE30310}"/>
              </a:ext>
            </a:extLst>
          </p:cNvPr>
          <p:cNvSpPr>
            <a:spLocks noGrp="1"/>
          </p:cNvSpPr>
          <p:nvPr>
            <p:ph type="title"/>
          </p:nvPr>
        </p:nvSpPr>
        <p:spPr>
          <a:xfrm>
            <a:off x="609600" y="351367"/>
            <a:ext cx="10972800" cy="800100"/>
          </a:xfrm>
        </p:spPr>
        <p:txBody>
          <a:bodyPr anchor="b">
            <a:normAutofit/>
          </a:bodyPr>
          <a:lstStyle/>
          <a:p>
            <a:r>
              <a:rPr lang="en-US" dirty="0"/>
              <a:t>Background: CTR Fabrication</a:t>
            </a:r>
          </a:p>
        </p:txBody>
      </p:sp>
      <p:sp>
        <p:nvSpPr>
          <p:cNvPr id="5" name="Slide Number Placeholder 4">
            <a:extLst>
              <a:ext uri="{FF2B5EF4-FFF2-40B4-BE49-F238E27FC236}">
                <a16:creationId xmlns:a16="http://schemas.microsoft.com/office/drawing/2014/main" id="{75D2BC71-54BC-063C-4887-1166DF75F32E}"/>
              </a:ext>
            </a:extLst>
          </p:cNvPr>
          <p:cNvSpPr>
            <a:spLocks noGrp="1"/>
          </p:cNvSpPr>
          <p:nvPr>
            <p:ph type="sldNum" sz="quarter" idx="12"/>
          </p:nvPr>
        </p:nvSpPr>
        <p:spPr>
          <a:xfrm>
            <a:off x="1" y="6387664"/>
            <a:ext cx="609600" cy="394136"/>
          </a:xfrm>
        </p:spPr>
        <p:txBody>
          <a:bodyPr anchor="ctr">
            <a:normAutofit/>
          </a:bodyPr>
          <a:lstStyle/>
          <a:p>
            <a:pPr>
              <a:spcAft>
                <a:spcPts val="600"/>
              </a:spcAft>
            </a:pPr>
            <a:fld id="{963B0023-0CED-47F7-85AE-654F0B232C29}" type="slidenum">
              <a:rPr lang="en-US" smtClean="0"/>
              <a:pPr>
                <a:spcAft>
                  <a:spcPts val="600"/>
                </a:spcAft>
              </a:pPr>
              <a:t>10</a:t>
            </a:fld>
            <a:endParaRPr lang="en-US"/>
          </a:p>
        </p:txBody>
      </p:sp>
      <p:sp>
        <p:nvSpPr>
          <p:cNvPr id="13" name="Footer Placeholder 5">
            <a:extLst>
              <a:ext uri="{FF2B5EF4-FFF2-40B4-BE49-F238E27FC236}">
                <a16:creationId xmlns:a16="http://schemas.microsoft.com/office/drawing/2014/main" id="{621CE81C-F876-4A15-7F7A-AB5C01858699}"/>
              </a:ext>
            </a:extLst>
          </p:cNvPr>
          <p:cNvSpPr>
            <a:spLocks noGrp="1"/>
          </p:cNvSpPr>
          <p:nvPr>
            <p:ph type="ftr" sz="quarter" idx="11"/>
          </p:nvPr>
        </p:nvSpPr>
        <p:spPr>
          <a:xfrm>
            <a:off x="609600" y="6172200"/>
            <a:ext cx="8077200" cy="533400"/>
          </a:xfrm>
        </p:spPr>
        <p:txBody>
          <a:bodyPr/>
          <a:lstStyle/>
          <a:p>
            <a:endParaRPr lang="en-US" sz="1000" dirty="0"/>
          </a:p>
        </p:txBody>
      </p:sp>
      <p:sp>
        <p:nvSpPr>
          <p:cNvPr id="3" name="TextBox 2">
            <a:extLst>
              <a:ext uri="{FF2B5EF4-FFF2-40B4-BE49-F238E27FC236}">
                <a16:creationId xmlns:a16="http://schemas.microsoft.com/office/drawing/2014/main" id="{AB874C8B-5C85-667D-29DD-0CCFB3A29E13}"/>
              </a:ext>
            </a:extLst>
          </p:cNvPr>
          <p:cNvSpPr txBox="1"/>
          <p:nvPr/>
        </p:nvSpPr>
        <p:spPr>
          <a:xfrm>
            <a:off x="5638800" y="3429000"/>
            <a:ext cx="914400" cy="914400"/>
          </a:xfrm>
          <a:prstGeom prst="rect">
            <a:avLst/>
          </a:prstGeom>
          <a:noFill/>
        </p:spPr>
        <p:txBody>
          <a:bodyPr wrap="none" rtlCol="0">
            <a:noAutofit/>
          </a:bodyPr>
          <a:lstStyle/>
          <a:p>
            <a:pPr algn="ctr"/>
            <a:r>
              <a:rPr lang="en-US" sz="1600" dirty="0"/>
              <a:t>Put picture of tube molds here.</a:t>
            </a:r>
          </a:p>
        </p:txBody>
      </p:sp>
    </p:spTree>
    <p:extLst>
      <p:ext uri="{BB962C8B-B14F-4D97-AF65-F5344CB8AC3E}">
        <p14:creationId xmlns:p14="http://schemas.microsoft.com/office/powerpoint/2010/main" val="3695954655"/>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937CE-5EFF-E99B-D2CB-DFD3AFE30310}"/>
              </a:ext>
            </a:extLst>
          </p:cNvPr>
          <p:cNvSpPr>
            <a:spLocks noGrp="1"/>
          </p:cNvSpPr>
          <p:nvPr>
            <p:ph type="title"/>
          </p:nvPr>
        </p:nvSpPr>
        <p:spPr>
          <a:xfrm>
            <a:off x="609600" y="351367"/>
            <a:ext cx="10972800" cy="800100"/>
          </a:xfrm>
        </p:spPr>
        <p:txBody>
          <a:bodyPr anchor="b">
            <a:normAutofit/>
          </a:bodyPr>
          <a:lstStyle/>
          <a:p>
            <a:r>
              <a:rPr lang="en-US" dirty="0"/>
              <a:t>Background: CTR Fabrication</a:t>
            </a:r>
          </a:p>
        </p:txBody>
      </p:sp>
      <p:sp>
        <p:nvSpPr>
          <p:cNvPr id="11" name="Content Placeholder 2">
            <a:extLst>
              <a:ext uri="{FF2B5EF4-FFF2-40B4-BE49-F238E27FC236}">
                <a16:creationId xmlns:a16="http://schemas.microsoft.com/office/drawing/2014/main" id="{B6760F90-1C2E-B0EF-D5FB-1C557CF1FDF1}"/>
              </a:ext>
            </a:extLst>
          </p:cNvPr>
          <p:cNvSpPr>
            <a:spLocks noGrp="1"/>
          </p:cNvSpPr>
          <p:nvPr>
            <p:ph sz="half" idx="1"/>
          </p:nvPr>
        </p:nvSpPr>
        <p:spPr>
          <a:xfrm>
            <a:off x="718276" y="1676400"/>
            <a:ext cx="4876800" cy="4495800"/>
          </a:xfrm>
        </p:spPr>
        <p:txBody>
          <a:bodyPr>
            <a:normAutofit fontScale="92500" lnSpcReduction="20000"/>
          </a:bodyPr>
          <a:lstStyle/>
          <a:p>
            <a:pPr marL="457200" indent="-457200">
              <a:buFont typeface="+mj-lt"/>
              <a:buAutoNum type="arabicPeriod"/>
            </a:pPr>
            <a:r>
              <a:rPr lang="en-US" dirty="0"/>
              <a:t>Preheat oven to 450°F.</a:t>
            </a:r>
          </a:p>
          <a:p>
            <a:pPr marL="457200" indent="-457200">
              <a:buFont typeface="+mj-lt"/>
              <a:buAutoNum type="arabicPeriod"/>
            </a:pPr>
            <a:r>
              <a:rPr lang="en-US" dirty="0"/>
              <a:t>Hold unshaped tube in oven for 10 seconds.</a:t>
            </a:r>
          </a:p>
          <a:p>
            <a:pPr marL="457200" indent="-457200">
              <a:buFont typeface="+mj-lt"/>
              <a:buAutoNum type="arabicPeriod"/>
            </a:pPr>
            <a:r>
              <a:rPr lang="en-US" dirty="0"/>
              <a:t>Place tube in heat-resistant mold and allow it to cool.</a:t>
            </a:r>
          </a:p>
          <a:p>
            <a:pPr marL="457200" indent="-457200">
              <a:buFont typeface="+mj-lt"/>
              <a:buAutoNum type="arabicPeriod"/>
            </a:pPr>
            <a:r>
              <a:rPr lang="en-US" dirty="0"/>
              <a:t>Heat the tube for 50 seconds.</a:t>
            </a:r>
          </a:p>
          <a:p>
            <a:pPr marL="457200" indent="-457200">
              <a:buFont typeface="+mj-lt"/>
              <a:buAutoNum type="arabicPeriod"/>
            </a:pPr>
            <a:r>
              <a:rPr lang="en-US" dirty="0"/>
              <a:t>Quench the tube for 110 seconds.</a:t>
            </a:r>
          </a:p>
          <a:p>
            <a:pPr marL="457200" indent="-457200">
              <a:buFont typeface="+mj-lt"/>
              <a:buAutoNum type="arabicPeriod"/>
            </a:pPr>
            <a:r>
              <a:rPr lang="en-US" dirty="0"/>
              <a:t>Allow tubes to rest for 5 minutes.</a:t>
            </a:r>
          </a:p>
          <a:p>
            <a:pPr marL="457200" indent="-457200">
              <a:buFont typeface="+mj-lt"/>
              <a:buAutoNum type="arabicPeriod"/>
            </a:pPr>
            <a:r>
              <a:rPr lang="en-US" dirty="0"/>
              <a:t>Remove the tube from the mold and cut off any excess material.</a:t>
            </a:r>
          </a:p>
        </p:txBody>
      </p:sp>
      <p:pic>
        <p:nvPicPr>
          <p:cNvPr id="6" name="Picture 5">
            <a:extLst>
              <a:ext uri="{FF2B5EF4-FFF2-40B4-BE49-F238E27FC236}">
                <a16:creationId xmlns:a16="http://schemas.microsoft.com/office/drawing/2014/main" id="{87059236-AAAA-5D21-E96D-E4F23F58DD3A}"/>
              </a:ext>
            </a:extLst>
          </p:cNvPr>
          <p:cNvPicPr>
            <a:picLocks noChangeAspect="1"/>
          </p:cNvPicPr>
          <p:nvPr/>
        </p:nvPicPr>
        <p:blipFill>
          <a:blip r:embed="rId3"/>
          <a:stretch>
            <a:fillRect/>
          </a:stretch>
        </p:blipFill>
        <p:spPr>
          <a:xfrm>
            <a:off x="5595076" y="1527544"/>
            <a:ext cx="5987324" cy="4565334"/>
          </a:xfrm>
          <a:prstGeom prst="rect">
            <a:avLst/>
          </a:prstGeom>
          <a:noFill/>
        </p:spPr>
      </p:pic>
      <p:sp>
        <p:nvSpPr>
          <p:cNvPr id="5" name="Slide Number Placeholder 4">
            <a:extLst>
              <a:ext uri="{FF2B5EF4-FFF2-40B4-BE49-F238E27FC236}">
                <a16:creationId xmlns:a16="http://schemas.microsoft.com/office/drawing/2014/main" id="{75D2BC71-54BC-063C-4887-1166DF75F32E}"/>
              </a:ext>
            </a:extLst>
          </p:cNvPr>
          <p:cNvSpPr>
            <a:spLocks noGrp="1"/>
          </p:cNvSpPr>
          <p:nvPr>
            <p:ph type="sldNum" sz="quarter" idx="12"/>
          </p:nvPr>
        </p:nvSpPr>
        <p:spPr>
          <a:xfrm>
            <a:off x="1" y="6387664"/>
            <a:ext cx="609600" cy="394136"/>
          </a:xfrm>
        </p:spPr>
        <p:txBody>
          <a:bodyPr anchor="ctr">
            <a:normAutofit/>
          </a:bodyPr>
          <a:lstStyle/>
          <a:p>
            <a:pPr>
              <a:spcAft>
                <a:spcPts val="600"/>
              </a:spcAft>
            </a:pPr>
            <a:fld id="{963B0023-0CED-47F7-85AE-654F0B232C29}" type="slidenum">
              <a:rPr lang="en-US" smtClean="0"/>
              <a:pPr>
                <a:spcAft>
                  <a:spcPts val="600"/>
                </a:spcAft>
              </a:pPr>
              <a:t>11</a:t>
            </a:fld>
            <a:endParaRPr lang="en-US"/>
          </a:p>
        </p:txBody>
      </p:sp>
      <p:sp>
        <p:nvSpPr>
          <p:cNvPr id="13" name="Footer Placeholder 5">
            <a:extLst>
              <a:ext uri="{FF2B5EF4-FFF2-40B4-BE49-F238E27FC236}">
                <a16:creationId xmlns:a16="http://schemas.microsoft.com/office/drawing/2014/main" id="{621CE81C-F876-4A15-7F7A-AB5C01858699}"/>
              </a:ext>
            </a:extLst>
          </p:cNvPr>
          <p:cNvSpPr>
            <a:spLocks noGrp="1"/>
          </p:cNvSpPr>
          <p:nvPr>
            <p:ph type="ftr" sz="quarter" idx="11"/>
          </p:nvPr>
        </p:nvSpPr>
        <p:spPr>
          <a:xfrm>
            <a:off x="609600" y="6172200"/>
            <a:ext cx="8077200" cy="533400"/>
          </a:xfrm>
        </p:spPr>
        <p:txBody>
          <a:bodyPr/>
          <a:lstStyle/>
          <a:p>
            <a:r>
              <a:rPr lang="en-US" sz="1000" dirty="0"/>
              <a:t>A. Lu, F. Ramos, J.-T. Lin, and T. K. Morimoto, “Enabling Higher Performance Concentric Tube Robots Via Multiple Constant-Curvature Tubes,” in 2023 International Symposium on Medical Robotics (ISMR), Apr. 2023, pp. 1–7. </a:t>
            </a:r>
            <a:r>
              <a:rPr lang="en-US" sz="1000" dirty="0" err="1"/>
              <a:t>doi</a:t>
            </a:r>
            <a:r>
              <a:rPr lang="en-US" sz="1000" dirty="0"/>
              <a:t>: </a:t>
            </a:r>
            <a:r>
              <a:rPr lang="en-US" sz="1000" dirty="0">
                <a:hlinkClick r:id="rId4">
                  <a:extLst>
                    <a:ext uri="{A12FA001-AC4F-418D-AE19-62706E023703}">
                      <ahyp:hlinkClr xmlns:ahyp="http://schemas.microsoft.com/office/drawing/2018/hyperlinkcolor" val="tx"/>
                    </a:ext>
                  </a:extLst>
                </a:hlinkClick>
              </a:rPr>
              <a:t>10.1109/ISMR57123.2023.10130226</a:t>
            </a:r>
            <a:r>
              <a:rPr lang="en-US" sz="1000" dirty="0"/>
              <a:t>.</a:t>
            </a:r>
          </a:p>
        </p:txBody>
      </p:sp>
    </p:spTree>
    <p:extLst>
      <p:ext uri="{BB962C8B-B14F-4D97-AF65-F5344CB8AC3E}">
        <p14:creationId xmlns:p14="http://schemas.microsoft.com/office/powerpoint/2010/main" val="27646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937CE-5EFF-E99B-D2CB-DFD3AFE30310}"/>
              </a:ext>
            </a:extLst>
          </p:cNvPr>
          <p:cNvSpPr>
            <a:spLocks noGrp="1"/>
          </p:cNvSpPr>
          <p:nvPr>
            <p:ph type="title"/>
          </p:nvPr>
        </p:nvSpPr>
        <p:spPr>
          <a:xfrm>
            <a:off x="609600" y="351367"/>
            <a:ext cx="10972800" cy="800100"/>
          </a:xfrm>
        </p:spPr>
        <p:txBody>
          <a:bodyPr anchor="b">
            <a:normAutofit/>
          </a:bodyPr>
          <a:lstStyle/>
          <a:p>
            <a:r>
              <a:rPr lang="en-US" dirty="0"/>
              <a:t>Motivation: CTR Fabrication</a:t>
            </a:r>
          </a:p>
        </p:txBody>
      </p:sp>
      <p:sp>
        <p:nvSpPr>
          <p:cNvPr id="11" name="Content Placeholder 2">
            <a:extLst>
              <a:ext uri="{FF2B5EF4-FFF2-40B4-BE49-F238E27FC236}">
                <a16:creationId xmlns:a16="http://schemas.microsoft.com/office/drawing/2014/main" id="{B6760F90-1C2E-B0EF-D5FB-1C557CF1FDF1}"/>
              </a:ext>
            </a:extLst>
          </p:cNvPr>
          <p:cNvSpPr>
            <a:spLocks noGrp="1"/>
          </p:cNvSpPr>
          <p:nvPr>
            <p:ph sz="half" idx="1"/>
          </p:nvPr>
        </p:nvSpPr>
        <p:spPr>
          <a:xfrm>
            <a:off x="626037" y="1676400"/>
            <a:ext cx="4876800" cy="4495800"/>
          </a:xfrm>
        </p:spPr>
        <p:txBody>
          <a:bodyPr/>
          <a:lstStyle/>
          <a:p>
            <a:r>
              <a:rPr lang="en-US" dirty="0"/>
              <a:t>How repeatable is the heat-setting process for plastic CTR tubes?</a:t>
            </a:r>
          </a:p>
        </p:txBody>
      </p:sp>
      <p:sp>
        <p:nvSpPr>
          <p:cNvPr id="5" name="Slide Number Placeholder 4">
            <a:extLst>
              <a:ext uri="{FF2B5EF4-FFF2-40B4-BE49-F238E27FC236}">
                <a16:creationId xmlns:a16="http://schemas.microsoft.com/office/drawing/2014/main" id="{75D2BC71-54BC-063C-4887-1166DF75F32E}"/>
              </a:ext>
            </a:extLst>
          </p:cNvPr>
          <p:cNvSpPr>
            <a:spLocks noGrp="1"/>
          </p:cNvSpPr>
          <p:nvPr>
            <p:ph type="sldNum" sz="quarter" idx="12"/>
          </p:nvPr>
        </p:nvSpPr>
        <p:spPr>
          <a:xfrm>
            <a:off x="1" y="6387664"/>
            <a:ext cx="609600" cy="394136"/>
          </a:xfrm>
        </p:spPr>
        <p:txBody>
          <a:bodyPr anchor="ctr">
            <a:normAutofit/>
          </a:bodyPr>
          <a:lstStyle/>
          <a:p>
            <a:pPr>
              <a:spcAft>
                <a:spcPts val="600"/>
              </a:spcAft>
            </a:pPr>
            <a:fld id="{963B0023-0CED-47F7-85AE-654F0B232C29}" type="slidenum">
              <a:rPr lang="en-US" smtClean="0"/>
              <a:pPr>
                <a:spcAft>
                  <a:spcPts val="600"/>
                </a:spcAft>
              </a:pPr>
              <a:t>12</a:t>
            </a:fld>
            <a:endParaRPr lang="en-US"/>
          </a:p>
        </p:txBody>
      </p:sp>
      <p:sp>
        <p:nvSpPr>
          <p:cNvPr id="13" name="Footer Placeholder 5">
            <a:extLst>
              <a:ext uri="{FF2B5EF4-FFF2-40B4-BE49-F238E27FC236}">
                <a16:creationId xmlns:a16="http://schemas.microsoft.com/office/drawing/2014/main" id="{621CE81C-F876-4A15-7F7A-AB5C01858699}"/>
              </a:ext>
            </a:extLst>
          </p:cNvPr>
          <p:cNvSpPr>
            <a:spLocks noGrp="1"/>
          </p:cNvSpPr>
          <p:nvPr>
            <p:ph type="ftr" sz="quarter" idx="11"/>
          </p:nvPr>
        </p:nvSpPr>
        <p:spPr>
          <a:xfrm>
            <a:off x="609600" y="6172200"/>
            <a:ext cx="6807200" cy="5334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D6D6D"/>
                </a:solidFill>
                <a:effectLst/>
                <a:uLnTx/>
                <a:uFillTx/>
                <a:latin typeface="Verdana"/>
                <a:ea typeface="+mn-ea"/>
                <a:cs typeface="+mn-cs"/>
              </a:rPr>
              <a:t>A. Lu, F. Ramos, J.-T. Lin, and T. K. Morimoto, “Enabling Higher Performance Concentric Tube Robots Via Multiple Constant-Curvature Tubes,” in 2023 International Symposium on Medical Robotics (ISMR), Apr. 2023, pp. 1–7. </a:t>
            </a:r>
            <a:r>
              <a:rPr kumimoji="0" lang="en-US" sz="1000" b="0" i="0" u="none" strike="noStrike" kern="1200" cap="none" spc="0" normalizeH="0" baseline="0" noProof="0" dirty="0" err="1">
                <a:ln>
                  <a:noFill/>
                </a:ln>
                <a:solidFill>
                  <a:srgbClr val="6D6D6D"/>
                </a:solidFill>
                <a:effectLst/>
                <a:uLnTx/>
                <a:uFillTx/>
                <a:latin typeface="Verdana"/>
                <a:ea typeface="+mn-ea"/>
                <a:cs typeface="+mn-cs"/>
              </a:rPr>
              <a:t>doi</a:t>
            </a:r>
            <a:r>
              <a:rPr kumimoji="0" lang="en-US" sz="1000" b="0" i="0" u="none" strike="noStrike" kern="1200" cap="none" spc="0" normalizeH="0" baseline="0" noProof="0" dirty="0">
                <a:ln>
                  <a:noFill/>
                </a:ln>
                <a:solidFill>
                  <a:srgbClr val="6D6D6D"/>
                </a:solidFill>
                <a:effectLst/>
                <a:uLnTx/>
                <a:uFillTx/>
                <a:latin typeface="Verdana"/>
                <a:ea typeface="+mn-ea"/>
                <a:cs typeface="+mn-cs"/>
              </a:rPr>
              <a:t>: </a:t>
            </a:r>
            <a:r>
              <a:rPr kumimoji="0" lang="en-US" sz="1000" b="0" i="0" u="none" strike="noStrike" kern="1200" cap="none" spc="0" normalizeH="0" baseline="0" noProof="0" dirty="0">
                <a:ln>
                  <a:noFill/>
                </a:ln>
                <a:solidFill>
                  <a:srgbClr val="6D6D6D"/>
                </a:solidFill>
                <a:effectLst/>
                <a:uLnTx/>
                <a:uFillTx/>
                <a:latin typeface="Verdana"/>
                <a:ea typeface="+mn-ea"/>
                <a:cs typeface="+mn-cs"/>
                <a:hlinkClick r:id="rId3">
                  <a:extLst>
                    <a:ext uri="{A12FA001-AC4F-418D-AE19-62706E023703}">
                      <ahyp:hlinkClr xmlns:ahyp="http://schemas.microsoft.com/office/drawing/2018/hyperlinkcolor" val="tx"/>
                    </a:ext>
                  </a:extLst>
                </a:hlinkClick>
              </a:rPr>
              <a:t>10.1109/ISMR57123.2023.10130226</a:t>
            </a:r>
            <a:r>
              <a:rPr kumimoji="0" lang="en-US" sz="1000" b="0" i="0" u="none" strike="noStrike" kern="1200" cap="none" spc="0" normalizeH="0" baseline="0" noProof="0" dirty="0">
                <a:ln>
                  <a:noFill/>
                </a:ln>
                <a:solidFill>
                  <a:srgbClr val="6D6D6D"/>
                </a:solidFill>
                <a:effectLst/>
                <a:uLnTx/>
                <a:uFillTx/>
                <a:latin typeface="Verdana"/>
                <a:ea typeface="+mn-ea"/>
                <a:cs typeface="+mn-cs"/>
              </a:rPr>
              <a:t>.</a:t>
            </a:r>
            <a:endParaRPr lang="en-US" dirty="0"/>
          </a:p>
        </p:txBody>
      </p:sp>
      <p:pic>
        <p:nvPicPr>
          <p:cNvPr id="3" name="Picture 2">
            <a:extLst>
              <a:ext uri="{FF2B5EF4-FFF2-40B4-BE49-F238E27FC236}">
                <a16:creationId xmlns:a16="http://schemas.microsoft.com/office/drawing/2014/main" id="{4AA23613-FEB2-0BED-589C-94A964F8694C}"/>
              </a:ext>
            </a:extLst>
          </p:cNvPr>
          <p:cNvPicPr>
            <a:picLocks noChangeAspect="1"/>
          </p:cNvPicPr>
          <p:nvPr/>
        </p:nvPicPr>
        <p:blipFill>
          <a:blip r:embed="rId4"/>
          <a:stretch>
            <a:fillRect/>
          </a:stretch>
        </p:blipFill>
        <p:spPr>
          <a:xfrm>
            <a:off x="5595076" y="1527544"/>
            <a:ext cx="5987324" cy="4565334"/>
          </a:xfrm>
          <a:prstGeom prst="rect">
            <a:avLst/>
          </a:prstGeom>
          <a:noFill/>
        </p:spPr>
      </p:pic>
    </p:spTree>
    <p:extLst>
      <p:ext uri="{BB962C8B-B14F-4D97-AF65-F5344CB8AC3E}">
        <p14:creationId xmlns:p14="http://schemas.microsoft.com/office/powerpoint/2010/main" val="952530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0F7B2-F51C-D0CC-23FC-69DB7DCCBD8A}"/>
              </a:ext>
            </a:extLst>
          </p:cNvPr>
          <p:cNvSpPr>
            <a:spLocks noGrp="1"/>
          </p:cNvSpPr>
          <p:nvPr>
            <p:ph type="title"/>
          </p:nvPr>
        </p:nvSpPr>
        <p:spPr>
          <a:xfrm>
            <a:off x="609600" y="351367"/>
            <a:ext cx="10972800" cy="800100"/>
          </a:xfrm>
        </p:spPr>
        <p:txBody>
          <a:bodyPr anchor="b">
            <a:normAutofit/>
          </a:bodyPr>
          <a:lstStyle/>
          <a:p>
            <a:r>
              <a:rPr lang="en-US" dirty="0"/>
              <a:t>Experiment 1: Heat-Setting and Relaxation</a:t>
            </a:r>
          </a:p>
        </p:txBody>
      </p:sp>
      <p:sp>
        <p:nvSpPr>
          <p:cNvPr id="11" name="Content Placeholder 2">
            <a:extLst>
              <a:ext uri="{FF2B5EF4-FFF2-40B4-BE49-F238E27FC236}">
                <a16:creationId xmlns:a16="http://schemas.microsoft.com/office/drawing/2014/main" id="{A3D4352E-D4D7-DFD6-3DCC-C4D71B7B1963}"/>
              </a:ext>
            </a:extLst>
          </p:cNvPr>
          <p:cNvSpPr>
            <a:spLocks noGrp="1"/>
          </p:cNvSpPr>
          <p:nvPr>
            <p:ph sz="half" idx="1"/>
          </p:nvPr>
        </p:nvSpPr>
        <p:spPr>
          <a:xfrm>
            <a:off x="760507" y="1676400"/>
            <a:ext cx="4725893" cy="4495800"/>
          </a:xfrm>
        </p:spPr>
        <p:txBody>
          <a:bodyPr/>
          <a:lstStyle/>
          <a:p>
            <a:r>
              <a:rPr lang="en-US" dirty="0"/>
              <a:t>Fifteen tubes (five each of three sizes)</a:t>
            </a:r>
          </a:p>
          <a:p>
            <a:r>
              <a:rPr lang="en-US" dirty="0"/>
              <a:t>Nominal bending radius of 50 mm</a:t>
            </a:r>
          </a:p>
          <a:p>
            <a:r>
              <a:rPr lang="en-US" dirty="0"/>
              <a:t>Measured curvature at several intervals after removal from jig</a:t>
            </a:r>
          </a:p>
        </p:txBody>
      </p:sp>
      <p:sp>
        <p:nvSpPr>
          <p:cNvPr id="5" name="Slide Number Placeholder 4">
            <a:extLst>
              <a:ext uri="{FF2B5EF4-FFF2-40B4-BE49-F238E27FC236}">
                <a16:creationId xmlns:a16="http://schemas.microsoft.com/office/drawing/2014/main" id="{E90FDB36-EDCC-B1F2-75A4-32CEB4707806}"/>
              </a:ext>
            </a:extLst>
          </p:cNvPr>
          <p:cNvSpPr>
            <a:spLocks noGrp="1"/>
          </p:cNvSpPr>
          <p:nvPr>
            <p:ph type="sldNum" sz="quarter" idx="12"/>
          </p:nvPr>
        </p:nvSpPr>
        <p:spPr>
          <a:xfrm>
            <a:off x="1" y="6387664"/>
            <a:ext cx="609600" cy="394136"/>
          </a:xfrm>
        </p:spPr>
        <p:txBody>
          <a:bodyPr anchor="ctr">
            <a:normAutofit/>
          </a:bodyPr>
          <a:lstStyle/>
          <a:p>
            <a:pPr>
              <a:spcAft>
                <a:spcPts val="600"/>
              </a:spcAft>
            </a:pPr>
            <a:fld id="{963B0023-0CED-47F7-85AE-654F0B232C29}" type="slidenum">
              <a:rPr lang="en-US" smtClean="0"/>
              <a:pPr>
                <a:spcAft>
                  <a:spcPts val="600"/>
                </a:spcAft>
              </a:pPr>
              <a:t>13</a:t>
            </a:fld>
            <a:endParaRPr lang="en-US"/>
          </a:p>
        </p:txBody>
      </p:sp>
      <p:sp>
        <p:nvSpPr>
          <p:cNvPr id="13" name="Footer Placeholder 5">
            <a:extLst>
              <a:ext uri="{FF2B5EF4-FFF2-40B4-BE49-F238E27FC236}">
                <a16:creationId xmlns:a16="http://schemas.microsoft.com/office/drawing/2014/main" id="{974FD9A5-DC93-CACA-F52E-2DDEA1E98F1B}"/>
              </a:ext>
            </a:extLst>
          </p:cNvPr>
          <p:cNvSpPr>
            <a:spLocks noGrp="1"/>
          </p:cNvSpPr>
          <p:nvPr>
            <p:ph type="ftr" sz="quarter" idx="11"/>
          </p:nvPr>
        </p:nvSpPr>
        <p:spPr>
          <a:xfrm>
            <a:off x="609600" y="6172200"/>
            <a:ext cx="6807200" cy="5334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D6D6D"/>
                </a:solidFill>
                <a:effectLst/>
                <a:uLnTx/>
                <a:uFillTx/>
                <a:latin typeface="Verdana"/>
                <a:ea typeface="+mn-ea"/>
                <a:cs typeface="+mn-cs"/>
              </a:rPr>
              <a:t>A. Lu, F. Ramos, J.-T. Lin, and T. K. Morimoto, “Enabling Higher Performance Concentric Tube Robots Via Multiple Constant-Curvature Tubes,” in 2023 International Symposium on Medical Robotics (ISMR), Apr. 2023, pp. 1–7. </a:t>
            </a:r>
            <a:r>
              <a:rPr kumimoji="0" lang="en-US" sz="1000" b="0" i="0" u="none" strike="noStrike" kern="1200" cap="none" spc="0" normalizeH="0" baseline="0" noProof="0" dirty="0" err="1">
                <a:ln>
                  <a:noFill/>
                </a:ln>
                <a:solidFill>
                  <a:srgbClr val="6D6D6D"/>
                </a:solidFill>
                <a:effectLst/>
                <a:uLnTx/>
                <a:uFillTx/>
                <a:latin typeface="Verdana"/>
                <a:ea typeface="+mn-ea"/>
                <a:cs typeface="+mn-cs"/>
              </a:rPr>
              <a:t>doi</a:t>
            </a:r>
            <a:r>
              <a:rPr kumimoji="0" lang="en-US" sz="1000" b="0" i="0" u="none" strike="noStrike" kern="1200" cap="none" spc="0" normalizeH="0" baseline="0" noProof="0" dirty="0">
                <a:ln>
                  <a:noFill/>
                </a:ln>
                <a:solidFill>
                  <a:srgbClr val="6D6D6D"/>
                </a:solidFill>
                <a:effectLst/>
                <a:uLnTx/>
                <a:uFillTx/>
                <a:latin typeface="Verdana"/>
                <a:ea typeface="+mn-ea"/>
                <a:cs typeface="+mn-cs"/>
              </a:rPr>
              <a:t>: </a:t>
            </a:r>
            <a:r>
              <a:rPr kumimoji="0" lang="en-US" sz="1000" b="0" i="0" u="none" strike="noStrike" kern="1200" cap="none" spc="0" normalizeH="0" baseline="0" noProof="0" dirty="0">
                <a:ln>
                  <a:noFill/>
                </a:ln>
                <a:solidFill>
                  <a:srgbClr val="6D6D6D"/>
                </a:solidFill>
                <a:effectLst/>
                <a:uLnTx/>
                <a:uFillTx/>
                <a:latin typeface="Verdana"/>
                <a:ea typeface="+mn-ea"/>
                <a:cs typeface="+mn-cs"/>
                <a:hlinkClick r:id="rId4">
                  <a:extLst>
                    <a:ext uri="{A12FA001-AC4F-418D-AE19-62706E023703}">
                      <ahyp:hlinkClr xmlns:ahyp="http://schemas.microsoft.com/office/drawing/2018/hyperlinkcolor" val="tx"/>
                    </a:ext>
                  </a:extLst>
                </a:hlinkClick>
              </a:rPr>
              <a:t>10.1109/ISMR57123.2023.10130226</a:t>
            </a:r>
            <a:r>
              <a:rPr kumimoji="0" lang="en-US" sz="1000" b="0" i="0" u="none" strike="noStrike" kern="1200" cap="none" spc="0" normalizeH="0" baseline="0" noProof="0" dirty="0">
                <a:ln>
                  <a:noFill/>
                </a:ln>
                <a:solidFill>
                  <a:srgbClr val="6D6D6D"/>
                </a:solidFill>
                <a:effectLst/>
                <a:uLnTx/>
                <a:uFillTx/>
                <a:latin typeface="Verdana"/>
                <a:ea typeface="+mn-ea"/>
                <a:cs typeface="+mn-cs"/>
              </a:rPr>
              <a:t>.</a:t>
            </a:r>
          </a:p>
        </p:txBody>
      </p:sp>
      <p:pic>
        <p:nvPicPr>
          <p:cNvPr id="3" name="Picture 2">
            <a:extLst>
              <a:ext uri="{FF2B5EF4-FFF2-40B4-BE49-F238E27FC236}">
                <a16:creationId xmlns:a16="http://schemas.microsoft.com/office/drawing/2014/main" id="{3F5DE55B-FE38-093A-60D1-D96D9CAA6444}"/>
              </a:ext>
            </a:extLst>
          </p:cNvPr>
          <p:cNvPicPr>
            <a:picLocks noChangeAspect="1"/>
          </p:cNvPicPr>
          <p:nvPr/>
        </p:nvPicPr>
        <p:blipFill>
          <a:blip r:embed="rId5"/>
          <a:stretch>
            <a:fillRect/>
          </a:stretch>
        </p:blipFill>
        <p:spPr>
          <a:xfrm>
            <a:off x="5595076" y="1527544"/>
            <a:ext cx="5987324" cy="4565334"/>
          </a:xfrm>
          <a:prstGeom prst="rect">
            <a:avLst/>
          </a:prstGeom>
          <a:noFill/>
        </p:spPr>
      </p:pic>
    </p:spTree>
    <p:extLst>
      <p:ext uri="{BB962C8B-B14F-4D97-AF65-F5344CB8AC3E}">
        <p14:creationId xmlns:p14="http://schemas.microsoft.com/office/powerpoint/2010/main" val="2990638206"/>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2FEA3-361E-FD2B-CA93-7915183F535C}"/>
              </a:ext>
            </a:extLst>
          </p:cNvPr>
          <p:cNvSpPr>
            <a:spLocks noGrp="1"/>
          </p:cNvSpPr>
          <p:nvPr>
            <p:ph type="title"/>
          </p:nvPr>
        </p:nvSpPr>
        <p:spPr/>
        <p:txBody>
          <a:bodyPr/>
          <a:lstStyle/>
          <a:p>
            <a:r>
              <a:rPr lang="en-US" dirty="0"/>
              <a:t>Experiment 1: Heat-Setting and Relaxation</a:t>
            </a:r>
          </a:p>
        </p:txBody>
      </p:sp>
      <p:sp>
        <p:nvSpPr>
          <p:cNvPr id="4" name="Footer Placeholder 3">
            <a:extLst>
              <a:ext uri="{FF2B5EF4-FFF2-40B4-BE49-F238E27FC236}">
                <a16:creationId xmlns:a16="http://schemas.microsoft.com/office/drawing/2014/main" id="{6876E460-0985-3C70-7FB1-8606F27CEF9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6C23CDB-A618-99FF-FC8A-C3BCD2A0F728}"/>
              </a:ext>
            </a:extLst>
          </p:cNvPr>
          <p:cNvSpPr>
            <a:spLocks noGrp="1"/>
          </p:cNvSpPr>
          <p:nvPr>
            <p:ph type="sldNum" sz="quarter" idx="12"/>
          </p:nvPr>
        </p:nvSpPr>
        <p:spPr/>
        <p:txBody>
          <a:bodyPr/>
          <a:lstStyle/>
          <a:p>
            <a:fld id="{963B0023-0CED-47F7-85AE-654F0B232C29}" type="slidenum">
              <a:rPr lang="en-US" smtClean="0"/>
              <a:pPr/>
              <a:t>14</a:t>
            </a:fld>
            <a:endParaRPr lang="en-US" dirty="0"/>
          </a:p>
        </p:txBody>
      </p:sp>
      <p:pic>
        <p:nvPicPr>
          <p:cNvPr id="10" name="Picture 9" descr="A graph of different colored lines&#10;&#10;Description automatically generated">
            <a:extLst>
              <a:ext uri="{FF2B5EF4-FFF2-40B4-BE49-F238E27FC236}">
                <a16:creationId xmlns:a16="http://schemas.microsoft.com/office/drawing/2014/main" id="{DCEE1E21-1DF2-163E-0670-9C2B7A9CFC17}"/>
              </a:ext>
            </a:extLst>
          </p:cNvPr>
          <p:cNvPicPr>
            <a:picLocks noChangeAspect="1"/>
          </p:cNvPicPr>
          <p:nvPr/>
        </p:nvPicPr>
        <p:blipFill rotWithShape="1">
          <a:blip r:embed="rId3">
            <a:extLst>
              <a:ext uri="{28A0092B-C50C-407E-A947-70E740481C1C}">
                <a14:useLocalDpi xmlns:a14="http://schemas.microsoft.com/office/drawing/2010/main" val="0"/>
              </a:ext>
            </a:extLst>
          </a:blip>
          <a:srcRect l="7762" t="2327" r="8256" b="1282"/>
          <a:stretch/>
        </p:blipFill>
        <p:spPr>
          <a:xfrm>
            <a:off x="1708018" y="1414131"/>
            <a:ext cx="8775963" cy="4910469"/>
          </a:xfrm>
          <a:prstGeom prst="rect">
            <a:avLst/>
          </a:prstGeom>
        </p:spPr>
      </p:pic>
    </p:spTree>
    <p:extLst>
      <p:ext uri="{BB962C8B-B14F-4D97-AF65-F5344CB8AC3E}">
        <p14:creationId xmlns:p14="http://schemas.microsoft.com/office/powerpoint/2010/main" val="3248753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2FEA3-361E-FD2B-CA93-7915183F535C}"/>
              </a:ext>
            </a:extLst>
          </p:cNvPr>
          <p:cNvSpPr>
            <a:spLocks noGrp="1"/>
          </p:cNvSpPr>
          <p:nvPr>
            <p:ph type="title"/>
          </p:nvPr>
        </p:nvSpPr>
        <p:spPr>
          <a:xfrm>
            <a:off x="609600" y="351367"/>
            <a:ext cx="10972800" cy="800100"/>
          </a:xfrm>
        </p:spPr>
        <p:txBody>
          <a:bodyPr anchor="b">
            <a:normAutofit/>
          </a:bodyPr>
          <a:lstStyle/>
          <a:p>
            <a:r>
              <a:rPr lang="en-US" dirty="0"/>
              <a:t>Experiment 1: Heat-Setting and Relaxation</a:t>
            </a:r>
          </a:p>
        </p:txBody>
      </p:sp>
      <p:sp>
        <p:nvSpPr>
          <p:cNvPr id="5" name="Slide Number Placeholder 4">
            <a:extLst>
              <a:ext uri="{FF2B5EF4-FFF2-40B4-BE49-F238E27FC236}">
                <a16:creationId xmlns:a16="http://schemas.microsoft.com/office/drawing/2014/main" id="{36C23CDB-A618-99FF-FC8A-C3BCD2A0F728}"/>
              </a:ext>
            </a:extLst>
          </p:cNvPr>
          <p:cNvSpPr>
            <a:spLocks noGrp="1"/>
          </p:cNvSpPr>
          <p:nvPr>
            <p:ph type="sldNum" sz="quarter" idx="10"/>
          </p:nvPr>
        </p:nvSpPr>
        <p:spPr>
          <a:xfrm>
            <a:off x="1" y="6387664"/>
            <a:ext cx="609600" cy="394136"/>
          </a:xfrm>
        </p:spPr>
        <p:txBody>
          <a:bodyPr anchor="ctr">
            <a:normAutofit/>
          </a:bodyPr>
          <a:lstStyle/>
          <a:p>
            <a:pPr>
              <a:spcAft>
                <a:spcPts val="600"/>
              </a:spcAft>
            </a:pPr>
            <a:fld id="{963B0023-0CED-47F7-85AE-654F0B232C29}" type="slidenum">
              <a:rPr lang="en-US" smtClean="0"/>
              <a:pPr>
                <a:spcAft>
                  <a:spcPts val="600"/>
                </a:spcAft>
              </a:pPr>
              <a:t>15</a:t>
            </a:fld>
            <a:endParaRPr lang="en-US"/>
          </a:p>
        </p:txBody>
      </p:sp>
      <p:sp>
        <p:nvSpPr>
          <p:cNvPr id="15" name="Footer Placeholder 3">
            <a:extLst>
              <a:ext uri="{FF2B5EF4-FFF2-40B4-BE49-F238E27FC236}">
                <a16:creationId xmlns:a16="http://schemas.microsoft.com/office/drawing/2014/main" id="{E75140BE-04DE-05B1-827E-2FE9C0EB95C7}"/>
              </a:ext>
            </a:extLst>
          </p:cNvPr>
          <p:cNvSpPr>
            <a:spLocks noGrp="1"/>
          </p:cNvSpPr>
          <p:nvPr>
            <p:ph type="ftr" sz="quarter" idx="11"/>
          </p:nvPr>
        </p:nvSpPr>
        <p:spPr>
          <a:xfrm>
            <a:off x="609600" y="6400800"/>
            <a:ext cx="6807200" cy="304800"/>
          </a:xfrm>
        </p:spPr>
        <p:txBody>
          <a:bodyPr/>
          <a:lstStyle/>
          <a:p>
            <a:endParaRPr lang="en-US"/>
          </a:p>
        </p:txBody>
      </p:sp>
      <p:pic>
        <p:nvPicPr>
          <p:cNvPr id="10" name="Picture 9" descr="A graph of different colored lines&#10;&#10;Description automatically generated">
            <a:extLst>
              <a:ext uri="{FF2B5EF4-FFF2-40B4-BE49-F238E27FC236}">
                <a16:creationId xmlns:a16="http://schemas.microsoft.com/office/drawing/2014/main" id="{DCEE1E21-1DF2-163E-0670-9C2B7A9CFC1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762" t="2327" r="8256" b="1282"/>
          <a:stretch/>
        </p:blipFill>
        <p:spPr>
          <a:xfrm>
            <a:off x="609600" y="1659434"/>
            <a:ext cx="7823200" cy="4377331"/>
          </a:xfrm>
          <a:prstGeom prst="rect">
            <a:avLst/>
          </a:prstGeom>
          <a:noFill/>
        </p:spPr>
      </p:pic>
      <p:sp>
        <p:nvSpPr>
          <p:cNvPr id="17" name="Text Placeholder 5">
            <a:extLst>
              <a:ext uri="{FF2B5EF4-FFF2-40B4-BE49-F238E27FC236}">
                <a16:creationId xmlns:a16="http://schemas.microsoft.com/office/drawing/2014/main" id="{45326A1C-ADEB-16ED-EF9C-5EAF64D3B2E9}"/>
              </a:ext>
            </a:extLst>
          </p:cNvPr>
          <p:cNvSpPr>
            <a:spLocks noGrp="1"/>
          </p:cNvSpPr>
          <p:nvPr>
            <p:ph type="body" sz="quarter" idx="13"/>
          </p:nvPr>
        </p:nvSpPr>
        <p:spPr>
          <a:xfrm>
            <a:off x="8737599" y="1524000"/>
            <a:ext cx="2968847" cy="4648200"/>
          </a:xfrm>
        </p:spPr>
        <p:txBody>
          <a:bodyPr/>
          <a:lstStyle/>
          <a:p>
            <a:pPr marL="274320" marR="0" lvl="0" indent="-274320" algn="l" defTabSz="914400" rtl="0" eaLnBrk="1" fontAlgn="auto" latinLnBrk="0" hangingPunct="1">
              <a:lnSpc>
                <a:spcPct val="95000"/>
              </a:lnSpc>
              <a:spcBef>
                <a:spcPts val="1200"/>
              </a:spcBef>
              <a:spcAft>
                <a:spcPts val="0"/>
              </a:spcAft>
              <a:buClr>
                <a:srgbClr val="AB192D"/>
              </a:buClr>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Verdana" pitchFamily="34" charset="0"/>
                <a:ea typeface="Verdana" pitchFamily="34" charset="0"/>
              </a:rPr>
              <a:t>Heat-setting process has limited repeatability</a:t>
            </a:r>
          </a:p>
          <a:p>
            <a:pPr marL="274320" marR="0" lvl="0" indent="-274320" algn="l" defTabSz="914400" rtl="0" eaLnBrk="1" fontAlgn="auto" latinLnBrk="0" hangingPunct="1">
              <a:lnSpc>
                <a:spcPct val="95000"/>
              </a:lnSpc>
              <a:spcBef>
                <a:spcPts val="1200"/>
              </a:spcBef>
              <a:spcAft>
                <a:spcPts val="0"/>
              </a:spcAft>
              <a:buClr>
                <a:srgbClr val="AB192D"/>
              </a:buClr>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Verdana" pitchFamily="34" charset="0"/>
                <a:ea typeface="Verdana" pitchFamily="34" charset="0"/>
              </a:rPr>
              <a:t>Nylon-12 tubes experience increase in bending radius after removal from jig</a:t>
            </a:r>
          </a:p>
          <a:p>
            <a:endParaRPr lang="en-US" dirty="0"/>
          </a:p>
        </p:txBody>
      </p:sp>
    </p:spTree>
    <p:extLst>
      <p:ext uri="{BB962C8B-B14F-4D97-AF65-F5344CB8AC3E}">
        <p14:creationId xmlns:p14="http://schemas.microsoft.com/office/powerpoint/2010/main" val="3426171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11DA5A1-B5E6-FEBA-A0AB-D4A4F13467A1}"/>
              </a:ext>
            </a:extLst>
          </p:cNvPr>
          <p:cNvSpPr>
            <a:spLocks noGrp="1"/>
          </p:cNvSpPr>
          <p:nvPr>
            <p:ph type="title"/>
          </p:nvPr>
        </p:nvSpPr>
        <p:spPr/>
        <p:txBody>
          <a:bodyPr/>
          <a:lstStyle/>
          <a:p>
            <a:r>
              <a:rPr lang="en-US" dirty="0"/>
              <a:t>Experiment 1: Heat-Setting and Relaxation</a:t>
            </a:r>
          </a:p>
        </p:txBody>
      </p:sp>
      <p:sp>
        <p:nvSpPr>
          <p:cNvPr id="8" name="Text Placeholder 7">
            <a:extLst>
              <a:ext uri="{FF2B5EF4-FFF2-40B4-BE49-F238E27FC236}">
                <a16:creationId xmlns:a16="http://schemas.microsoft.com/office/drawing/2014/main" id="{A18594D4-33A8-0F9B-CC27-39837FC5C339}"/>
              </a:ext>
            </a:extLst>
          </p:cNvPr>
          <p:cNvSpPr>
            <a:spLocks noGrp="1"/>
          </p:cNvSpPr>
          <p:nvPr>
            <p:ph type="body" idx="1"/>
          </p:nvPr>
        </p:nvSpPr>
        <p:spPr/>
        <p:txBody>
          <a:bodyPr/>
          <a:lstStyle/>
          <a:p>
            <a:r>
              <a:rPr lang="en-US" dirty="0"/>
              <a:t>Conclusions</a:t>
            </a:r>
          </a:p>
        </p:txBody>
      </p:sp>
      <p:sp>
        <p:nvSpPr>
          <p:cNvPr id="9" name="Content Placeholder 8">
            <a:extLst>
              <a:ext uri="{FF2B5EF4-FFF2-40B4-BE49-F238E27FC236}">
                <a16:creationId xmlns:a16="http://schemas.microsoft.com/office/drawing/2014/main" id="{9DF727D6-C318-6940-567F-9BE33A9243EB}"/>
              </a:ext>
            </a:extLst>
          </p:cNvPr>
          <p:cNvSpPr>
            <a:spLocks noGrp="1"/>
          </p:cNvSpPr>
          <p:nvPr>
            <p:ph sz="half" idx="2"/>
          </p:nvPr>
        </p:nvSpPr>
        <p:spPr/>
        <p:txBody>
          <a:bodyPr/>
          <a:lstStyle/>
          <a:p>
            <a:r>
              <a:rPr lang="en-US" dirty="0"/>
              <a:t>Heat-setting process has limited repeatability</a:t>
            </a:r>
          </a:p>
          <a:p>
            <a:r>
              <a:rPr lang="en-US" dirty="0"/>
              <a:t>Nylon-12 tubes experience increase in bending radius after removal from jig</a:t>
            </a:r>
          </a:p>
        </p:txBody>
      </p:sp>
      <p:sp>
        <p:nvSpPr>
          <p:cNvPr id="10" name="Text Placeholder 9">
            <a:extLst>
              <a:ext uri="{FF2B5EF4-FFF2-40B4-BE49-F238E27FC236}">
                <a16:creationId xmlns:a16="http://schemas.microsoft.com/office/drawing/2014/main" id="{137B8EDE-445F-3A48-20E4-10D22EB8EDE8}"/>
              </a:ext>
            </a:extLst>
          </p:cNvPr>
          <p:cNvSpPr>
            <a:spLocks noGrp="1"/>
          </p:cNvSpPr>
          <p:nvPr>
            <p:ph type="body" sz="quarter" idx="3"/>
          </p:nvPr>
        </p:nvSpPr>
        <p:spPr/>
        <p:txBody>
          <a:bodyPr/>
          <a:lstStyle/>
          <a:p>
            <a:r>
              <a:rPr lang="en-US" dirty="0"/>
              <a:t>Analysis</a:t>
            </a:r>
          </a:p>
        </p:txBody>
      </p:sp>
      <p:sp>
        <p:nvSpPr>
          <p:cNvPr id="11" name="Content Placeholder 10">
            <a:extLst>
              <a:ext uri="{FF2B5EF4-FFF2-40B4-BE49-F238E27FC236}">
                <a16:creationId xmlns:a16="http://schemas.microsoft.com/office/drawing/2014/main" id="{09989703-6F0E-1266-FCEF-97DFB16B7FE3}"/>
              </a:ext>
            </a:extLst>
          </p:cNvPr>
          <p:cNvSpPr>
            <a:spLocks noGrp="1"/>
          </p:cNvSpPr>
          <p:nvPr>
            <p:ph sz="quarter" idx="4"/>
          </p:nvPr>
        </p:nvSpPr>
        <p:spPr>
          <a:xfrm>
            <a:off x="6197600" y="2216400"/>
            <a:ext cx="4876800" cy="3955800"/>
          </a:xfrm>
        </p:spPr>
        <p:txBody>
          <a:bodyPr/>
          <a:lstStyle/>
          <a:p>
            <a:r>
              <a:rPr lang="en-US" dirty="0"/>
              <a:t>Practitioners should measure the bending radii of plastic tubes immediately before CTR operation</a:t>
            </a:r>
          </a:p>
          <a:p>
            <a:r>
              <a:rPr lang="en-US" dirty="0"/>
              <a:t>This experiment suggests that Nylon-12 does not behave elastically</a:t>
            </a:r>
          </a:p>
        </p:txBody>
      </p:sp>
      <p:sp>
        <p:nvSpPr>
          <p:cNvPr id="5" name="Slide Number Placeholder 4">
            <a:extLst>
              <a:ext uri="{FF2B5EF4-FFF2-40B4-BE49-F238E27FC236}">
                <a16:creationId xmlns:a16="http://schemas.microsoft.com/office/drawing/2014/main" id="{E8A78C0E-E3DF-9CC7-BF7C-9CF2FC6495B5}"/>
              </a:ext>
            </a:extLst>
          </p:cNvPr>
          <p:cNvSpPr>
            <a:spLocks noGrp="1"/>
          </p:cNvSpPr>
          <p:nvPr>
            <p:ph type="sldNum" sz="quarter" idx="12"/>
          </p:nvPr>
        </p:nvSpPr>
        <p:spPr/>
        <p:txBody>
          <a:bodyPr/>
          <a:lstStyle/>
          <a:p>
            <a:fld id="{BFEBEB0A-9E3D-4B14-9782-E2AE3DA60D96}" type="slidenum">
              <a:rPr lang="en-US" smtClean="0"/>
              <a:pPr/>
              <a:t>16</a:t>
            </a:fld>
            <a:endParaRPr lang="en-US" dirty="0"/>
          </a:p>
        </p:txBody>
      </p:sp>
      <p:sp>
        <p:nvSpPr>
          <p:cNvPr id="6" name="Footer Placeholder 5">
            <a:extLst>
              <a:ext uri="{FF2B5EF4-FFF2-40B4-BE49-F238E27FC236}">
                <a16:creationId xmlns:a16="http://schemas.microsoft.com/office/drawing/2014/main" id="{B1114494-BB92-787A-936E-E06D831B7DCE}"/>
              </a:ext>
            </a:extLst>
          </p:cNvPr>
          <p:cNvSpPr>
            <a:spLocks noGrp="1"/>
          </p:cNvSpPr>
          <p:nvPr>
            <p:ph type="ftr" sz="quarter" idx="11"/>
          </p:nvPr>
        </p:nvSpPr>
        <p:spPr/>
        <p:txBody>
          <a:bodyPr/>
          <a:lstStyle/>
          <a:p>
            <a:endParaRPr lang="en-US" dirty="0"/>
          </a:p>
        </p:txBody>
      </p:sp>
      <p:pic>
        <p:nvPicPr>
          <p:cNvPr id="2" name="Picture 1">
            <a:extLst>
              <a:ext uri="{FF2B5EF4-FFF2-40B4-BE49-F238E27FC236}">
                <a16:creationId xmlns:a16="http://schemas.microsoft.com/office/drawing/2014/main" id="{FD9E8364-51BC-BC0E-0CB1-00DF72D47C53}"/>
              </a:ext>
            </a:extLst>
          </p:cNvPr>
          <p:cNvPicPr>
            <a:picLocks noChangeAspect="1"/>
          </p:cNvPicPr>
          <p:nvPr/>
        </p:nvPicPr>
        <p:blipFill>
          <a:blip r:embed="rId3"/>
          <a:stretch>
            <a:fillRect/>
          </a:stretch>
        </p:blipFill>
        <p:spPr>
          <a:xfrm>
            <a:off x="6544874" y="4242408"/>
            <a:ext cx="4182253" cy="1687380"/>
          </a:xfrm>
          <a:prstGeom prst="rect">
            <a:avLst/>
          </a:prstGeom>
        </p:spPr>
      </p:pic>
    </p:spTree>
    <p:extLst>
      <p:ext uri="{BB962C8B-B14F-4D97-AF65-F5344CB8AC3E}">
        <p14:creationId xmlns:p14="http://schemas.microsoft.com/office/powerpoint/2010/main" val="3048416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11DA5A1-B5E6-FEBA-A0AB-D4A4F13467A1}"/>
              </a:ext>
            </a:extLst>
          </p:cNvPr>
          <p:cNvSpPr>
            <a:spLocks noGrp="1"/>
          </p:cNvSpPr>
          <p:nvPr>
            <p:ph type="title"/>
          </p:nvPr>
        </p:nvSpPr>
        <p:spPr/>
        <p:txBody>
          <a:bodyPr/>
          <a:lstStyle/>
          <a:p>
            <a:r>
              <a:rPr lang="en-US" dirty="0"/>
              <a:t>Experiment 2: In-Plane Bending</a:t>
            </a:r>
          </a:p>
        </p:txBody>
      </p:sp>
      <p:sp>
        <p:nvSpPr>
          <p:cNvPr id="8" name="Text Placeholder 7">
            <a:extLst>
              <a:ext uri="{FF2B5EF4-FFF2-40B4-BE49-F238E27FC236}">
                <a16:creationId xmlns:a16="http://schemas.microsoft.com/office/drawing/2014/main" id="{A18594D4-33A8-0F9B-CC27-39837FC5C339}"/>
              </a:ext>
            </a:extLst>
          </p:cNvPr>
          <p:cNvSpPr>
            <a:spLocks noGrp="1"/>
          </p:cNvSpPr>
          <p:nvPr>
            <p:ph type="body" idx="1"/>
          </p:nvPr>
        </p:nvSpPr>
        <p:spPr/>
        <p:txBody>
          <a:bodyPr/>
          <a:lstStyle/>
          <a:p>
            <a:r>
              <a:rPr lang="en-US" dirty="0"/>
              <a:t>Motivating Question</a:t>
            </a:r>
          </a:p>
        </p:txBody>
      </p:sp>
      <p:sp>
        <p:nvSpPr>
          <p:cNvPr id="9" name="Content Placeholder 8">
            <a:extLst>
              <a:ext uri="{FF2B5EF4-FFF2-40B4-BE49-F238E27FC236}">
                <a16:creationId xmlns:a16="http://schemas.microsoft.com/office/drawing/2014/main" id="{9DF727D6-C318-6940-567F-9BE33A9243EB}"/>
              </a:ext>
            </a:extLst>
          </p:cNvPr>
          <p:cNvSpPr>
            <a:spLocks noGrp="1"/>
          </p:cNvSpPr>
          <p:nvPr>
            <p:ph sz="half" idx="2"/>
          </p:nvPr>
        </p:nvSpPr>
        <p:spPr/>
        <p:txBody>
          <a:bodyPr/>
          <a:lstStyle/>
          <a:p>
            <a:r>
              <a:rPr lang="en-US" dirty="0"/>
              <a:t>Does the elastic model, which correctly describes Nitinol tubes, accurately predict the equilibrium curvature of Nylon-12 tubes?</a:t>
            </a:r>
          </a:p>
        </p:txBody>
      </p:sp>
      <p:sp>
        <p:nvSpPr>
          <p:cNvPr id="5" name="Slide Number Placeholder 4">
            <a:extLst>
              <a:ext uri="{FF2B5EF4-FFF2-40B4-BE49-F238E27FC236}">
                <a16:creationId xmlns:a16="http://schemas.microsoft.com/office/drawing/2014/main" id="{E8A78C0E-E3DF-9CC7-BF7C-9CF2FC6495B5}"/>
              </a:ext>
            </a:extLst>
          </p:cNvPr>
          <p:cNvSpPr>
            <a:spLocks noGrp="1"/>
          </p:cNvSpPr>
          <p:nvPr>
            <p:ph type="sldNum" sz="quarter" idx="12"/>
          </p:nvPr>
        </p:nvSpPr>
        <p:spPr/>
        <p:txBody>
          <a:bodyPr/>
          <a:lstStyle/>
          <a:p>
            <a:fld id="{BFEBEB0A-9E3D-4B14-9782-E2AE3DA60D96}" type="slidenum">
              <a:rPr lang="en-US" smtClean="0"/>
              <a:pPr/>
              <a:t>17</a:t>
            </a:fld>
            <a:endParaRPr lang="en-US" dirty="0"/>
          </a:p>
        </p:txBody>
      </p:sp>
      <p:sp>
        <p:nvSpPr>
          <p:cNvPr id="6" name="Footer Placeholder 5">
            <a:extLst>
              <a:ext uri="{FF2B5EF4-FFF2-40B4-BE49-F238E27FC236}">
                <a16:creationId xmlns:a16="http://schemas.microsoft.com/office/drawing/2014/main" id="{B1114494-BB92-787A-936E-E06D831B7DCE}"/>
              </a:ext>
            </a:extLst>
          </p:cNvPr>
          <p:cNvSpPr>
            <a:spLocks noGrp="1"/>
          </p:cNvSpPr>
          <p:nvPr>
            <p:ph type="ftr" sz="quarter" idx="11"/>
          </p:nvPr>
        </p:nvSpPr>
        <p:spPr/>
        <p:txBody>
          <a:bodyPr/>
          <a:lstStyle/>
          <a:p>
            <a:endParaRPr lang="en-US" dirty="0"/>
          </a:p>
        </p:txBody>
      </p:sp>
      <p:pic>
        <p:nvPicPr>
          <p:cNvPr id="2" name="Picture 1">
            <a:extLst>
              <a:ext uri="{FF2B5EF4-FFF2-40B4-BE49-F238E27FC236}">
                <a16:creationId xmlns:a16="http://schemas.microsoft.com/office/drawing/2014/main" id="{CAAF466C-D04D-6E0A-1640-F04C9204268C}"/>
              </a:ext>
            </a:extLst>
          </p:cNvPr>
          <p:cNvPicPr>
            <a:picLocks noChangeAspect="1"/>
          </p:cNvPicPr>
          <p:nvPr/>
        </p:nvPicPr>
        <p:blipFill>
          <a:blip r:embed="rId3"/>
          <a:stretch>
            <a:fillRect/>
          </a:stretch>
        </p:blipFill>
        <p:spPr>
          <a:xfrm>
            <a:off x="7416800" y="1904114"/>
            <a:ext cx="3809427" cy="3887972"/>
          </a:xfrm>
          <a:prstGeom prst="rect">
            <a:avLst/>
          </a:prstGeom>
        </p:spPr>
      </p:pic>
      <p:pic>
        <p:nvPicPr>
          <p:cNvPr id="16" name="Picture 15">
            <a:extLst>
              <a:ext uri="{FF2B5EF4-FFF2-40B4-BE49-F238E27FC236}">
                <a16:creationId xmlns:a16="http://schemas.microsoft.com/office/drawing/2014/main" id="{85704FC0-FDDB-4DEB-244B-E4424D3B5281}"/>
              </a:ext>
            </a:extLst>
          </p:cNvPr>
          <p:cNvPicPr>
            <a:picLocks noChangeAspect="1"/>
          </p:cNvPicPr>
          <p:nvPr/>
        </p:nvPicPr>
        <p:blipFill>
          <a:blip r:embed="rId4"/>
          <a:stretch>
            <a:fillRect/>
          </a:stretch>
        </p:blipFill>
        <p:spPr>
          <a:xfrm>
            <a:off x="1363273" y="3755430"/>
            <a:ext cx="4182253" cy="1687380"/>
          </a:xfrm>
          <a:prstGeom prst="rect">
            <a:avLst/>
          </a:prstGeom>
        </p:spPr>
      </p:pic>
    </p:spTree>
    <p:extLst>
      <p:ext uri="{BB962C8B-B14F-4D97-AF65-F5344CB8AC3E}">
        <p14:creationId xmlns:p14="http://schemas.microsoft.com/office/powerpoint/2010/main" val="3972079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0F7B2-F51C-D0CC-23FC-69DB7DCCBD8A}"/>
              </a:ext>
            </a:extLst>
          </p:cNvPr>
          <p:cNvSpPr>
            <a:spLocks noGrp="1"/>
          </p:cNvSpPr>
          <p:nvPr>
            <p:ph type="title"/>
          </p:nvPr>
        </p:nvSpPr>
        <p:spPr>
          <a:xfrm>
            <a:off x="609600" y="351367"/>
            <a:ext cx="10972800" cy="800100"/>
          </a:xfrm>
        </p:spPr>
        <p:txBody>
          <a:bodyPr anchor="b">
            <a:normAutofit/>
          </a:bodyPr>
          <a:lstStyle/>
          <a:p>
            <a:r>
              <a:rPr lang="en-US" dirty="0"/>
              <a:t>Experiment 2: In-Plane Bending</a:t>
            </a:r>
          </a:p>
        </p:txBody>
      </p:sp>
      <p:sp>
        <p:nvSpPr>
          <p:cNvPr id="11" name="Content Placeholder 2">
            <a:extLst>
              <a:ext uri="{FF2B5EF4-FFF2-40B4-BE49-F238E27FC236}">
                <a16:creationId xmlns:a16="http://schemas.microsoft.com/office/drawing/2014/main" id="{A3D4352E-D4D7-DFD6-3DCC-C4D71B7B1963}"/>
              </a:ext>
            </a:extLst>
          </p:cNvPr>
          <p:cNvSpPr>
            <a:spLocks noGrp="1"/>
          </p:cNvSpPr>
          <p:nvPr>
            <p:ph sz="half" idx="1"/>
          </p:nvPr>
        </p:nvSpPr>
        <p:spPr>
          <a:xfrm>
            <a:off x="1016000" y="1676400"/>
            <a:ext cx="4876800" cy="4495800"/>
          </a:xfrm>
        </p:spPr>
        <p:txBody>
          <a:bodyPr/>
          <a:lstStyle/>
          <a:p>
            <a:r>
              <a:rPr lang="en-US" dirty="0"/>
              <a:t>Nested five sets of tubes</a:t>
            </a:r>
          </a:p>
          <a:p>
            <a:r>
              <a:rPr lang="en-US" dirty="0"/>
              <a:t>Measured curvature at several intervals over ensuing 30 minutes</a:t>
            </a:r>
          </a:p>
          <a:p>
            <a:r>
              <a:rPr lang="en-US" dirty="0"/>
              <a:t>Compared to elastic model</a:t>
            </a:r>
          </a:p>
        </p:txBody>
      </p:sp>
      <p:sp>
        <p:nvSpPr>
          <p:cNvPr id="5" name="Slide Number Placeholder 4">
            <a:extLst>
              <a:ext uri="{FF2B5EF4-FFF2-40B4-BE49-F238E27FC236}">
                <a16:creationId xmlns:a16="http://schemas.microsoft.com/office/drawing/2014/main" id="{E90FDB36-EDCC-B1F2-75A4-32CEB4707806}"/>
              </a:ext>
            </a:extLst>
          </p:cNvPr>
          <p:cNvSpPr>
            <a:spLocks noGrp="1"/>
          </p:cNvSpPr>
          <p:nvPr>
            <p:ph type="sldNum" sz="quarter" idx="12"/>
          </p:nvPr>
        </p:nvSpPr>
        <p:spPr>
          <a:xfrm>
            <a:off x="1" y="6387664"/>
            <a:ext cx="609600" cy="394136"/>
          </a:xfrm>
        </p:spPr>
        <p:txBody>
          <a:bodyPr anchor="ctr">
            <a:normAutofit/>
          </a:bodyPr>
          <a:lstStyle/>
          <a:p>
            <a:pPr>
              <a:spcAft>
                <a:spcPts val="600"/>
              </a:spcAft>
            </a:pPr>
            <a:fld id="{963B0023-0CED-47F7-85AE-654F0B232C29}" type="slidenum">
              <a:rPr lang="en-US" smtClean="0"/>
              <a:pPr>
                <a:spcAft>
                  <a:spcPts val="600"/>
                </a:spcAft>
              </a:pPr>
              <a:t>18</a:t>
            </a:fld>
            <a:endParaRPr lang="en-US"/>
          </a:p>
        </p:txBody>
      </p:sp>
      <p:sp>
        <p:nvSpPr>
          <p:cNvPr id="13" name="Footer Placeholder 5">
            <a:extLst>
              <a:ext uri="{FF2B5EF4-FFF2-40B4-BE49-F238E27FC236}">
                <a16:creationId xmlns:a16="http://schemas.microsoft.com/office/drawing/2014/main" id="{974FD9A5-DC93-CACA-F52E-2DDEA1E98F1B}"/>
              </a:ext>
            </a:extLst>
          </p:cNvPr>
          <p:cNvSpPr>
            <a:spLocks noGrp="1"/>
          </p:cNvSpPr>
          <p:nvPr>
            <p:ph type="ftr" sz="quarter" idx="11"/>
          </p:nvPr>
        </p:nvSpPr>
        <p:spPr>
          <a:xfrm>
            <a:off x="609600" y="6311464"/>
            <a:ext cx="6807200" cy="394136"/>
          </a:xfrm>
        </p:spPr>
        <p:txBody>
          <a:bodyPr/>
          <a:lstStyle/>
          <a:p>
            <a:r>
              <a:rPr lang="en-US" sz="1000" dirty="0"/>
              <a:t>R. J. Webster, J. M. Romano, and N. J. Cowan, “Mechanics of </a:t>
            </a:r>
            <a:r>
              <a:rPr lang="en-US" sz="1000" dirty="0" err="1"/>
              <a:t>Precurved</a:t>
            </a:r>
            <a:r>
              <a:rPr lang="en-US" sz="1000" dirty="0"/>
              <a:t>-Tube Continuum Robots,” </a:t>
            </a:r>
            <a:r>
              <a:rPr lang="en-US" sz="1000" i="1" dirty="0"/>
              <a:t>IEEE Trans. Robot.</a:t>
            </a:r>
            <a:r>
              <a:rPr lang="en-US" sz="1000" dirty="0"/>
              <a:t>, vol. 25, no. 1, pp. 67–78, Feb. 2009, </a:t>
            </a:r>
            <a:r>
              <a:rPr lang="en-US" sz="1000" dirty="0" err="1"/>
              <a:t>doi</a:t>
            </a:r>
            <a:r>
              <a:rPr lang="en-US" sz="1000" dirty="0"/>
              <a:t>: </a:t>
            </a:r>
            <a:r>
              <a:rPr lang="en-US" sz="1000" dirty="0">
                <a:hlinkClick r:id="rId3"/>
              </a:rPr>
              <a:t>10.1109/TRO.2008.2006868</a:t>
            </a:r>
            <a:r>
              <a:rPr lang="en-US" sz="1000" dirty="0"/>
              <a:t>.</a:t>
            </a:r>
          </a:p>
        </p:txBody>
      </p:sp>
      <p:pic>
        <p:nvPicPr>
          <p:cNvPr id="3" name="Picture 2">
            <a:extLst>
              <a:ext uri="{FF2B5EF4-FFF2-40B4-BE49-F238E27FC236}">
                <a16:creationId xmlns:a16="http://schemas.microsoft.com/office/drawing/2014/main" id="{D8236A11-FEF6-1480-CB56-9F5516A7374F}"/>
              </a:ext>
            </a:extLst>
          </p:cNvPr>
          <p:cNvPicPr>
            <a:picLocks noChangeAspect="1"/>
          </p:cNvPicPr>
          <p:nvPr/>
        </p:nvPicPr>
        <p:blipFill>
          <a:blip r:embed="rId4"/>
          <a:stretch>
            <a:fillRect/>
          </a:stretch>
        </p:blipFill>
        <p:spPr>
          <a:xfrm>
            <a:off x="7416800" y="1904114"/>
            <a:ext cx="3809427" cy="3887972"/>
          </a:xfrm>
          <a:prstGeom prst="rect">
            <a:avLst/>
          </a:prstGeom>
        </p:spPr>
      </p:pic>
    </p:spTree>
    <p:extLst>
      <p:ext uri="{BB962C8B-B14F-4D97-AF65-F5344CB8AC3E}">
        <p14:creationId xmlns:p14="http://schemas.microsoft.com/office/powerpoint/2010/main" val="3695660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2FEA3-361E-FD2B-CA93-7915183F535C}"/>
              </a:ext>
            </a:extLst>
          </p:cNvPr>
          <p:cNvSpPr>
            <a:spLocks noGrp="1"/>
          </p:cNvSpPr>
          <p:nvPr>
            <p:ph type="title"/>
          </p:nvPr>
        </p:nvSpPr>
        <p:spPr/>
        <p:txBody>
          <a:bodyPr/>
          <a:lstStyle/>
          <a:p>
            <a:r>
              <a:rPr lang="en-US" dirty="0"/>
              <a:t>Experiment 2: In-Plane Bending</a:t>
            </a:r>
          </a:p>
        </p:txBody>
      </p:sp>
      <p:sp>
        <p:nvSpPr>
          <p:cNvPr id="4" name="Footer Placeholder 3">
            <a:extLst>
              <a:ext uri="{FF2B5EF4-FFF2-40B4-BE49-F238E27FC236}">
                <a16:creationId xmlns:a16="http://schemas.microsoft.com/office/drawing/2014/main" id="{6876E460-0985-3C70-7FB1-8606F27CEF9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6C23CDB-A618-99FF-FC8A-C3BCD2A0F728}"/>
              </a:ext>
            </a:extLst>
          </p:cNvPr>
          <p:cNvSpPr>
            <a:spLocks noGrp="1"/>
          </p:cNvSpPr>
          <p:nvPr>
            <p:ph type="sldNum" sz="quarter" idx="12"/>
          </p:nvPr>
        </p:nvSpPr>
        <p:spPr/>
        <p:txBody>
          <a:bodyPr/>
          <a:lstStyle/>
          <a:p>
            <a:fld id="{963B0023-0CED-47F7-85AE-654F0B232C29}" type="slidenum">
              <a:rPr lang="en-US" smtClean="0"/>
              <a:pPr/>
              <a:t>19</a:t>
            </a:fld>
            <a:endParaRPr lang="en-US" dirty="0"/>
          </a:p>
        </p:txBody>
      </p:sp>
      <p:pic>
        <p:nvPicPr>
          <p:cNvPr id="6" name="Picture 5">
            <a:extLst>
              <a:ext uri="{FF2B5EF4-FFF2-40B4-BE49-F238E27FC236}">
                <a16:creationId xmlns:a16="http://schemas.microsoft.com/office/drawing/2014/main" id="{51F841A4-C074-7C8C-E4A3-91F8F6FF2E20}"/>
              </a:ext>
            </a:extLst>
          </p:cNvPr>
          <p:cNvPicPr>
            <a:picLocks noChangeAspect="1"/>
          </p:cNvPicPr>
          <p:nvPr/>
        </p:nvPicPr>
        <p:blipFill rotWithShape="1">
          <a:blip r:embed="rId3"/>
          <a:srcRect l="17913" r="19937"/>
          <a:stretch/>
        </p:blipFill>
        <p:spPr>
          <a:xfrm>
            <a:off x="3200400" y="1699215"/>
            <a:ext cx="5791200" cy="3459569"/>
          </a:xfrm>
          <a:prstGeom prst="rect">
            <a:avLst/>
          </a:prstGeom>
        </p:spPr>
      </p:pic>
      <p:sp>
        <p:nvSpPr>
          <p:cNvPr id="7" name="TextBox 6">
            <a:extLst>
              <a:ext uri="{FF2B5EF4-FFF2-40B4-BE49-F238E27FC236}">
                <a16:creationId xmlns:a16="http://schemas.microsoft.com/office/drawing/2014/main" id="{A16622C2-4D18-F77C-3AF6-47589E661F1D}"/>
              </a:ext>
            </a:extLst>
          </p:cNvPr>
          <p:cNvSpPr txBox="1"/>
          <p:nvPr/>
        </p:nvSpPr>
        <p:spPr>
          <a:xfrm>
            <a:off x="5638800" y="5322592"/>
            <a:ext cx="914400" cy="914400"/>
          </a:xfrm>
          <a:prstGeom prst="rect">
            <a:avLst/>
          </a:prstGeom>
          <a:noFill/>
        </p:spPr>
        <p:txBody>
          <a:bodyPr wrap="none" rtlCol="0">
            <a:noAutofit/>
          </a:bodyPr>
          <a:lstStyle/>
          <a:p>
            <a:pPr algn="ctr"/>
            <a:r>
              <a:rPr lang="en-US" sz="1600" dirty="0"/>
              <a:t>There will be a relevant graph here.</a:t>
            </a:r>
          </a:p>
          <a:p>
            <a:pPr algn="ctr"/>
            <a:r>
              <a:rPr lang="en-US" sz="1600" dirty="0"/>
              <a:t>Eventually.</a:t>
            </a:r>
          </a:p>
        </p:txBody>
      </p:sp>
    </p:spTree>
    <p:extLst>
      <p:ext uri="{BB962C8B-B14F-4D97-AF65-F5344CB8AC3E}">
        <p14:creationId xmlns:p14="http://schemas.microsoft.com/office/powerpoint/2010/main" val="3457303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11DA5A1-B5E6-FEBA-A0AB-D4A4F13467A1}"/>
              </a:ext>
            </a:extLst>
          </p:cNvPr>
          <p:cNvSpPr>
            <a:spLocks noGrp="1"/>
          </p:cNvSpPr>
          <p:nvPr>
            <p:ph type="title"/>
          </p:nvPr>
        </p:nvSpPr>
        <p:spPr/>
        <p:txBody>
          <a:bodyPr/>
          <a:lstStyle/>
          <a:p>
            <a:r>
              <a:rPr lang="en-US" dirty="0"/>
              <a:t>Experiment 2: In-Plane Bending</a:t>
            </a:r>
          </a:p>
        </p:txBody>
      </p:sp>
      <p:sp>
        <p:nvSpPr>
          <p:cNvPr id="8" name="Text Placeholder 7">
            <a:extLst>
              <a:ext uri="{FF2B5EF4-FFF2-40B4-BE49-F238E27FC236}">
                <a16:creationId xmlns:a16="http://schemas.microsoft.com/office/drawing/2014/main" id="{A18594D4-33A8-0F9B-CC27-39837FC5C339}"/>
              </a:ext>
            </a:extLst>
          </p:cNvPr>
          <p:cNvSpPr>
            <a:spLocks noGrp="1"/>
          </p:cNvSpPr>
          <p:nvPr>
            <p:ph type="body" idx="1"/>
          </p:nvPr>
        </p:nvSpPr>
        <p:spPr/>
        <p:txBody>
          <a:bodyPr/>
          <a:lstStyle/>
          <a:p>
            <a:r>
              <a:rPr lang="en-US" dirty="0"/>
              <a:t>Conclusions</a:t>
            </a:r>
          </a:p>
        </p:txBody>
      </p:sp>
      <p:sp>
        <p:nvSpPr>
          <p:cNvPr id="9" name="Content Placeholder 8">
            <a:extLst>
              <a:ext uri="{FF2B5EF4-FFF2-40B4-BE49-F238E27FC236}">
                <a16:creationId xmlns:a16="http://schemas.microsoft.com/office/drawing/2014/main" id="{9DF727D6-C318-6940-567F-9BE33A9243EB}"/>
              </a:ext>
            </a:extLst>
          </p:cNvPr>
          <p:cNvSpPr>
            <a:spLocks noGrp="1"/>
          </p:cNvSpPr>
          <p:nvPr>
            <p:ph sz="half" idx="2"/>
          </p:nvPr>
        </p:nvSpPr>
        <p:spPr/>
        <p:txBody>
          <a:bodyPr/>
          <a:lstStyle/>
          <a:p>
            <a:r>
              <a:rPr lang="en-US" dirty="0"/>
              <a:t>Equilibrium curvature changes over time</a:t>
            </a:r>
          </a:p>
          <a:p>
            <a:r>
              <a:rPr lang="en-US" dirty="0"/>
              <a:t>Elastic model does not capture behavior of Nylon-12 tubes</a:t>
            </a:r>
          </a:p>
        </p:txBody>
      </p:sp>
      <p:sp>
        <p:nvSpPr>
          <p:cNvPr id="10" name="Text Placeholder 9">
            <a:extLst>
              <a:ext uri="{FF2B5EF4-FFF2-40B4-BE49-F238E27FC236}">
                <a16:creationId xmlns:a16="http://schemas.microsoft.com/office/drawing/2014/main" id="{137B8EDE-445F-3A48-20E4-10D22EB8EDE8}"/>
              </a:ext>
            </a:extLst>
          </p:cNvPr>
          <p:cNvSpPr>
            <a:spLocks noGrp="1"/>
          </p:cNvSpPr>
          <p:nvPr>
            <p:ph type="body" sz="quarter" idx="3"/>
          </p:nvPr>
        </p:nvSpPr>
        <p:spPr/>
        <p:txBody>
          <a:bodyPr/>
          <a:lstStyle/>
          <a:p>
            <a:r>
              <a:rPr lang="en-US" dirty="0"/>
              <a:t>Motivating Question</a:t>
            </a:r>
          </a:p>
        </p:txBody>
      </p:sp>
      <p:sp>
        <p:nvSpPr>
          <p:cNvPr id="11" name="Content Placeholder 10">
            <a:extLst>
              <a:ext uri="{FF2B5EF4-FFF2-40B4-BE49-F238E27FC236}">
                <a16:creationId xmlns:a16="http://schemas.microsoft.com/office/drawing/2014/main" id="{09989703-6F0E-1266-FCEF-97DFB16B7FE3}"/>
              </a:ext>
            </a:extLst>
          </p:cNvPr>
          <p:cNvSpPr>
            <a:spLocks noGrp="1"/>
          </p:cNvSpPr>
          <p:nvPr>
            <p:ph sz="quarter" idx="4"/>
          </p:nvPr>
        </p:nvSpPr>
        <p:spPr/>
        <p:txBody>
          <a:bodyPr/>
          <a:lstStyle/>
          <a:p>
            <a:r>
              <a:rPr lang="en-US" dirty="0"/>
              <a:t>Are our assumptions about Nylon-12 valid?</a:t>
            </a:r>
          </a:p>
        </p:txBody>
      </p:sp>
      <p:sp>
        <p:nvSpPr>
          <p:cNvPr id="5" name="Slide Number Placeholder 4">
            <a:extLst>
              <a:ext uri="{FF2B5EF4-FFF2-40B4-BE49-F238E27FC236}">
                <a16:creationId xmlns:a16="http://schemas.microsoft.com/office/drawing/2014/main" id="{E8A78C0E-E3DF-9CC7-BF7C-9CF2FC6495B5}"/>
              </a:ext>
            </a:extLst>
          </p:cNvPr>
          <p:cNvSpPr>
            <a:spLocks noGrp="1"/>
          </p:cNvSpPr>
          <p:nvPr>
            <p:ph type="sldNum" sz="quarter" idx="12"/>
          </p:nvPr>
        </p:nvSpPr>
        <p:spPr/>
        <p:txBody>
          <a:bodyPr/>
          <a:lstStyle/>
          <a:p>
            <a:fld id="{BFEBEB0A-9E3D-4B14-9782-E2AE3DA60D96}" type="slidenum">
              <a:rPr lang="en-US" smtClean="0"/>
              <a:pPr/>
              <a:t>20</a:t>
            </a:fld>
            <a:endParaRPr lang="en-US" dirty="0"/>
          </a:p>
        </p:txBody>
      </p:sp>
      <p:sp>
        <p:nvSpPr>
          <p:cNvPr id="6" name="Footer Placeholder 5">
            <a:extLst>
              <a:ext uri="{FF2B5EF4-FFF2-40B4-BE49-F238E27FC236}">
                <a16:creationId xmlns:a16="http://schemas.microsoft.com/office/drawing/2014/main" id="{B1114494-BB92-787A-936E-E06D831B7DCE}"/>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6908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0F7B2-F51C-D0CC-23FC-69DB7DCCBD8A}"/>
              </a:ext>
            </a:extLst>
          </p:cNvPr>
          <p:cNvSpPr>
            <a:spLocks noGrp="1"/>
          </p:cNvSpPr>
          <p:nvPr>
            <p:ph type="title"/>
          </p:nvPr>
        </p:nvSpPr>
        <p:spPr>
          <a:xfrm>
            <a:off x="609600" y="351367"/>
            <a:ext cx="10972800" cy="800100"/>
          </a:xfrm>
        </p:spPr>
        <p:txBody>
          <a:bodyPr anchor="b">
            <a:normAutofit/>
          </a:bodyPr>
          <a:lstStyle/>
          <a:p>
            <a:r>
              <a:rPr lang="en-US" dirty="0"/>
              <a:t>Experiment 3: Repeated Straightening</a:t>
            </a:r>
          </a:p>
        </p:txBody>
      </p:sp>
      <p:sp>
        <p:nvSpPr>
          <p:cNvPr id="5" name="Slide Number Placeholder 4">
            <a:extLst>
              <a:ext uri="{FF2B5EF4-FFF2-40B4-BE49-F238E27FC236}">
                <a16:creationId xmlns:a16="http://schemas.microsoft.com/office/drawing/2014/main" id="{E90FDB36-EDCC-B1F2-75A4-32CEB4707806}"/>
              </a:ext>
            </a:extLst>
          </p:cNvPr>
          <p:cNvSpPr>
            <a:spLocks noGrp="1"/>
          </p:cNvSpPr>
          <p:nvPr>
            <p:ph type="sldNum" sz="quarter" idx="10"/>
          </p:nvPr>
        </p:nvSpPr>
        <p:spPr>
          <a:xfrm>
            <a:off x="1" y="6387664"/>
            <a:ext cx="609600" cy="394136"/>
          </a:xfrm>
        </p:spPr>
        <p:txBody>
          <a:bodyPr anchor="ctr">
            <a:normAutofit/>
          </a:bodyPr>
          <a:lstStyle/>
          <a:p>
            <a:pPr>
              <a:spcAft>
                <a:spcPts val="600"/>
              </a:spcAft>
            </a:pPr>
            <a:fld id="{963B0023-0CED-47F7-85AE-654F0B232C29}" type="slidenum">
              <a:rPr lang="en-US" smtClean="0"/>
              <a:pPr>
                <a:spcAft>
                  <a:spcPts val="600"/>
                </a:spcAft>
              </a:pPr>
              <a:t>21</a:t>
            </a:fld>
            <a:endParaRPr lang="en-US"/>
          </a:p>
        </p:txBody>
      </p:sp>
      <p:sp>
        <p:nvSpPr>
          <p:cNvPr id="18" name="Footer Placeholder 3">
            <a:extLst>
              <a:ext uri="{FF2B5EF4-FFF2-40B4-BE49-F238E27FC236}">
                <a16:creationId xmlns:a16="http://schemas.microsoft.com/office/drawing/2014/main" id="{FC94E98B-759E-D02B-2E37-0E1CB38447EC}"/>
              </a:ext>
            </a:extLst>
          </p:cNvPr>
          <p:cNvSpPr>
            <a:spLocks noGrp="1"/>
          </p:cNvSpPr>
          <p:nvPr>
            <p:ph type="ftr" sz="quarter" idx="11"/>
          </p:nvPr>
        </p:nvSpPr>
        <p:spPr>
          <a:xfrm>
            <a:off x="609600" y="6400800"/>
            <a:ext cx="6807200" cy="304800"/>
          </a:xfrm>
        </p:spPr>
        <p:txBody>
          <a:bodyPr/>
          <a:lstStyle/>
          <a:p>
            <a:endParaRPr lang="en-US"/>
          </a:p>
        </p:txBody>
      </p:sp>
      <p:pic>
        <p:nvPicPr>
          <p:cNvPr id="6" name="Picture 5" descr="A machine with wires and wires&#10;&#10;Description automatically generated">
            <a:extLst>
              <a:ext uri="{FF2B5EF4-FFF2-40B4-BE49-F238E27FC236}">
                <a16:creationId xmlns:a16="http://schemas.microsoft.com/office/drawing/2014/main" id="{E3996249-6C15-9E15-4258-27FF2E96F8E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00" y="1524000"/>
            <a:ext cx="6911817" cy="4648200"/>
          </a:xfrm>
          <a:prstGeom prst="rect">
            <a:avLst/>
          </a:prstGeom>
          <a:noFill/>
        </p:spPr>
      </p:pic>
      <p:sp>
        <p:nvSpPr>
          <p:cNvPr id="11" name="Content Placeholder 2">
            <a:extLst>
              <a:ext uri="{FF2B5EF4-FFF2-40B4-BE49-F238E27FC236}">
                <a16:creationId xmlns:a16="http://schemas.microsoft.com/office/drawing/2014/main" id="{A3D4352E-D4D7-DFD6-3DCC-C4D71B7B1963}"/>
              </a:ext>
            </a:extLst>
          </p:cNvPr>
          <p:cNvSpPr>
            <a:spLocks noGrp="1"/>
          </p:cNvSpPr>
          <p:nvPr>
            <p:ph type="body" sz="quarter" idx="13"/>
          </p:nvPr>
        </p:nvSpPr>
        <p:spPr>
          <a:xfrm>
            <a:off x="7719237" y="1524000"/>
            <a:ext cx="4082903" cy="4648200"/>
          </a:xfrm>
        </p:spPr>
        <p:txBody>
          <a:bodyPr anchor="t">
            <a:normAutofit/>
          </a:bodyPr>
          <a:lstStyle/>
          <a:p>
            <a:pPr marL="342900" indent="-342900">
              <a:buFont typeface="Arial" panose="020B0604020202020204" pitchFamily="34" charset="0"/>
              <a:buChar char="•"/>
            </a:pPr>
            <a:r>
              <a:rPr lang="en-US" dirty="0"/>
              <a:t>Repeatedly straightened 15 tubes from Experiment 1</a:t>
            </a:r>
          </a:p>
          <a:p>
            <a:pPr marL="342900" indent="-342900">
              <a:buFont typeface="Arial" panose="020B0604020202020204" pitchFamily="34" charset="0"/>
              <a:buChar char="•"/>
            </a:pPr>
            <a:r>
              <a:rPr lang="en-US" dirty="0"/>
              <a:t>Measured curvature:</a:t>
            </a:r>
          </a:p>
          <a:p>
            <a:pPr marL="937260" lvl="1" indent="-342900">
              <a:buFont typeface="Arial" panose="020B0604020202020204" pitchFamily="34" charset="0"/>
              <a:buChar char="•"/>
            </a:pPr>
            <a:r>
              <a:rPr lang="en-US" dirty="0"/>
              <a:t>Every 5 cycles, up to 30</a:t>
            </a:r>
          </a:p>
          <a:p>
            <a:pPr marL="937260" lvl="1" indent="-342900">
              <a:buFont typeface="Arial" panose="020B0604020202020204" pitchFamily="34" charset="0"/>
              <a:buChar char="•"/>
            </a:pPr>
            <a:r>
              <a:rPr lang="en-US" dirty="0"/>
              <a:t>3 days after experiment</a:t>
            </a:r>
          </a:p>
          <a:p>
            <a:pPr marL="342900" indent="-342900">
              <a:buFont typeface="Arial" panose="020B0604020202020204" pitchFamily="34" charset="0"/>
              <a:buChar char="•"/>
            </a:pPr>
            <a:r>
              <a:rPr lang="en-US" dirty="0"/>
              <a:t>All curvatures below maximum allowable</a:t>
            </a:r>
          </a:p>
          <a:p>
            <a:pPr marL="342900" indent="-342900">
              <a:buFont typeface="Arial" panose="020B0604020202020204" pitchFamily="34" charset="0"/>
              <a:buChar char="•"/>
            </a:pPr>
            <a:endParaRPr lang="en-US" dirty="0"/>
          </a:p>
          <a:p>
            <a:endParaRPr lang="en-US" dirty="0"/>
          </a:p>
          <a:p>
            <a:pPr marL="342900" indent="-342900">
              <a:buFont typeface="Arial" panose="020B0604020202020204" pitchFamily="34" charset="0"/>
              <a:buChar char="•"/>
            </a:pPr>
            <a:r>
              <a:rPr lang="en-US" dirty="0"/>
              <a:t>If tubes are elastic, curvature should not change</a:t>
            </a:r>
          </a:p>
          <a:p>
            <a:pPr marL="342900" indent="-342900">
              <a:buFont typeface="Arial" panose="020B0604020202020204" pitchFamily="34" charset="0"/>
              <a:buChar char="•"/>
            </a:pPr>
            <a:endParaRPr lang="en-US" dirty="0"/>
          </a:p>
        </p:txBody>
      </p:sp>
      <p:pic>
        <p:nvPicPr>
          <p:cNvPr id="3" name="Picture 2">
            <a:extLst>
              <a:ext uri="{FF2B5EF4-FFF2-40B4-BE49-F238E27FC236}">
                <a16:creationId xmlns:a16="http://schemas.microsoft.com/office/drawing/2014/main" id="{33946A15-A480-F504-FFE0-8DD0452B293E}"/>
              </a:ext>
            </a:extLst>
          </p:cNvPr>
          <p:cNvPicPr>
            <a:picLocks noChangeAspect="1"/>
          </p:cNvPicPr>
          <p:nvPr/>
        </p:nvPicPr>
        <p:blipFill>
          <a:blip r:embed="rId5"/>
          <a:stretch>
            <a:fillRect/>
          </a:stretch>
        </p:blipFill>
        <p:spPr>
          <a:xfrm>
            <a:off x="8798344" y="4032170"/>
            <a:ext cx="1930615" cy="896097"/>
          </a:xfrm>
          <a:prstGeom prst="rect">
            <a:avLst/>
          </a:prstGeom>
        </p:spPr>
      </p:pic>
    </p:spTree>
    <p:extLst>
      <p:ext uri="{BB962C8B-B14F-4D97-AF65-F5344CB8AC3E}">
        <p14:creationId xmlns:p14="http://schemas.microsoft.com/office/powerpoint/2010/main" val="498989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2FEA3-361E-FD2B-CA93-7915183F535C}"/>
              </a:ext>
            </a:extLst>
          </p:cNvPr>
          <p:cNvSpPr>
            <a:spLocks noGrp="1"/>
          </p:cNvSpPr>
          <p:nvPr>
            <p:ph type="title"/>
          </p:nvPr>
        </p:nvSpPr>
        <p:spPr/>
        <p:txBody>
          <a:bodyPr/>
          <a:lstStyle/>
          <a:p>
            <a:r>
              <a:rPr lang="en-US" dirty="0"/>
              <a:t>Experiment 3: Repeated Straightening</a:t>
            </a:r>
          </a:p>
        </p:txBody>
      </p:sp>
      <p:sp>
        <p:nvSpPr>
          <p:cNvPr id="4" name="Footer Placeholder 3">
            <a:extLst>
              <a:ext uri="{FF2B5EF4-FFF2-40B4-BE49-F238E27FC236}">
                <a16:creationId xmlns:a16="http://schemas.microsoft.com/office/drawing/2014/main" id="{6876E460-0985-3C70-7FB1-8606F27CEF9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6C23CDB-A618-99FF-FC8A-C3BCD2A0F728}"/>
              </a:ext>
            </a:extLst>
          </p:cNvPr>
          <p:cNvSpPr>
            <a:spLocks noGrp="1"/>
          </p:cNvSpPr>
          <p:nvPr>
            <p:ph type="sldNum" sz="quarter" idx="12"/>
          </p:nvPr>
        </p:nvSpPr>
        <p:spPr/>
        <p:txBody>
          <a:bodyPr/>
          <a:lstStyle/>
          <a:p>
            <a:fld id="{963B0023-0CED-47F7-85AE-654F0B232C29}" type="slidenum">
              <a:rPr lang="en-US" smtClean="0"/>
              <a:pPr/>
              <a:t>22</a:t>
            </a:fld>
            <a:endParaRPr lang="en-US" dirty="0"/>
          </a:p>
        </p:txBody>
      </p:sp>
      <p:pic>
        <p:nvPicPr>
          <p:cNvPr id="8" name="Picture 7" descr="A graph of different colored lines&#10;&#10;Description automatically generated">
            <a:extLst>
              <a:ext uri="{FF2B5EF4-FFF2-40B4-BE49-F238E27FC236}">
                <a16:creationId xmlns:a16="http://schemas.microsoft.com/office/drawing/2014/main" id="{39B47550-E0CF-207E-9419-FFCC3636264F}"/>
              </a:ext>
            </a:extLst>
          </p:cNvPr>
          <p:cNvPicPr>
            <a:picLocks noChangeAspect="1"/>
          </p:cNvPicPr>
          <p:nvPr/>
        </p:nvPicPr>
        <p:blipFill rotWithShape="1">
          <a:blip r:embed="rId3">
            <a:extLst>
              <a:ext uri="{28A0092B-C50C-407E-A947-70E740481C1C}">
                <a14:useLocalDpi xmlns:a14="http://schemas.microsoft.com/office/drawing/2010/main" val="0"/>
              </a:ext>
            </a:extLst>
          </a:blip>
          <a:srcRect l="7756" t="3497" r="5000" b="1282"/>
          <a:stretch/>
        </p:blipFill>
        <p:spPr>
          <a:xfrm>
            <a:off x="1622713" y="1439667"/>
            <a:ext cx="8946573" cy="4760241"/>
          </a:xfrm>
          <a:prstGeom prst="rect">
            <a:avLst/>
          </a:prstGeom>
        </p:spPr>
      </p:pic>
      <p:pic>
        <p:nvPicPr>
          <p:cNvPr id="10" name="Picture 9">
            <a:extLst>
              <a:ext uri="{FF2B5EF4-FFF2-40B4-BE49-F238E27FC236}">
                <a16:creationId xmlns:a16="http://schemas.microsoft.com/office/drawing/2014/main" id="{AEA48853-29C2-B6AA-2C2E-98163CB456C1}"/>
              </a:ext>
            </a:extLst>
          </p:cNvPr>
          <p:cNvPicPr>
            <a:picLocks noChangeAspect="1"/>
          </p:cNvPicPr>
          <p:nvPr/>
        </p:nvPicPr>
        <p:blipFill>
          <a:blip r:embed="rId4"/>
          <a:stretch>
            <a:fillRect/>
          </a:stretch>
        </p:blipFill>
        <p:spPr>
          <a:xfrm>
            <a:off x="9030970" y="1380172"/>
            <a:ext cx="1181100" cy="409575"/>
          </a:xfrm>
          <a:prstGeom prst="rect">
            <a:avLst/>
          </a:prstGeom>
        </p:spPr>
      </p:pic>
    </p:spTree>
    <p:extLst>
      <p:ext uri="{BB962C8B-B14F-4D97-AF65-F5344CB8AC3E}">
        <p14:creationId xmlns:p14="http://schemas.microsoft.com/office/powerpoint/2010/main" val="36161150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11DA5A1-B5E6-FEBA-A0AB-D4A4F13467A1}"/>
              </a:ext>
            </a:extLst>
          </p:cNvPr>
          <p:cNvSpPr>
            <a:spLocks noGrp="1"/>
          </p:cNvSpPr>
          <p:nvPr>
            <p:ph type="title"/>
          </p:nvPr>
        </p:nvSpPr>
        <p:spPr/>
        <p:txBody>
          <a:bodyPr/>
          <a:lstStyle/>
          <a:p>
            <a:r>
              <a:rPr lang="en-US" dirty="0"/>
              <a:t>Experiment 3: Repeated Straightening</a:t>
            </a:r>
          </a:p>
        </p:txBody>
      </p:sp>
      <p:sp>
        <p:nvSpPr>
          <p:cNvPr id="8" name="Text Placeholder 7">
            <a:extLst>
              <a:ext uri="{FF2B5EF4-FFF2-40B4-BE49-F238E27FC236}">
                <a16:creationId xmlns:a16="http://schemas.microsoft.com/office/drawing/2014/main" id="{A18594D4-33A8-0F9B-CC27-39837FC5C339}"/>
              </a:ext>
            </a:extLst>
          </p:cNvPr>
          <p:cNvSpPr>
            <a:spLocks noGrp="1"/>
          </p:cNvSpPr>
          <p:nvPr>
            <p:ph type="body" idx="1"/>
          </p:nvPr>
        </p:nvSpPr>
        <p:spPr/>
        <p:txBody>
          <a:bodyPr/>
          <a:lstStyle/>
          <a:p>
            <a:r>
              <a:rPr lang="en-US" dirty="0"/>
              <a:t>Conclusions</a:t>
            </a:r>
          </a:p>
        </p:txBody>
      </p:sp>
      <p:sp>
        <p:nvSpPr>
          <p:cNvPr id="9" name="Content Placeholder 8">
            <a:extLst>
              <a:ext uri="{FF2B5EF4-FFF2-40B4-BE49-F238E27FC236}">
                <a16:creationId xmlns:a16="http://schemas.microsoft.com/office/drawing/2014/main" id="{9DF727D6-C318-6940-567F-9BE33A9243EB}"/>
              </a:ext>
            </a:extLst>
          </p:cNvPr>
          <p:cNvSpPr>
            <a:spLocks noGrp="1"/>
          </p:cNvSpPr>
          <p:nvPr>
            <p:ph sz="half" idx="2"/>
          </p:nvPr>
        </p:nvSpPr>
        <p:spPr/>
        <p:txBody>
          <a:bodyPr/>
          <a:lstStyle/>
          <a:p>
            <a:r>
              <a:rPr lang="en-US" dirty="0"/>
              <a:t>Tubes are not purely elastic, even at low strains</a:t>
            </a:r>
          </a:p>
          <a:p>
            <a:r>
              <a:rPr lang="en-US" dirty="0"/>
              <a:t>Tube deformation is not plastic</a:t>
            </a:r>
          </a:p>
          <a:p>
            <a:r>
              <a:rPr lang="en-US" dirty="0"/>
              <a:t>Tubes behave viscously</a:t>
            </a:r>
          </a:p>
          <a:p>
            <a:r>
              <a:rPr lang="en-US" dirty="0"/>
              <a:t>Prior assumptions do not hold for Nylon-12; elastic model disproven</a:t>
            </a:r>
          </a:p>
        </p:txBody>
      </p:sp>
      <p:sp>
        <p:nvSpPr>
          <p:cNvPr id="5" name="Slide Number Placeholder 4">
            <a:extLst>
              <a:ext uri="{FF2B5EF4-FFF2-40B4-BE49-F238E27FC236}">
                <a16:creationId xmlns:a16="http://schemas.microsoft.com/office/drawing/2014/main" id="{E8A78C0E-E3DF-9CC7-BF7C-9CF2FC6495B5}"/>
              </a:ext>
            </a:extLst>
          </p:cNvPr>
          <p:cNvSpPr>
            <a:spLocks noGrp="1"/>
          </p:cNvSpPr>
          <p:nvPr>
            <p:ph type="sldNum" sz="quarter" idx="12"/>
          </p:nvPr>
        </p:nvSpPr>
        <p:spPr/>
        <p:txBody>
          <a:bodyPr/>
          <a:lstStyle/>
          <a:p>
            <a:fld id="{BFEBEB0A-9E3D-4B14-9782-E2AE3DA60D96}" type="slidenum">
              <a:rPr lang="en-US" smtClean="0"/>
              <a:pPr/>
              <a:t>23</a:t>
            </a:fld>
            <a:endParaRPr lang="en-US" dirty="0"/>
          </a:p>
        </p:txBody>
      </p:sp>
      <p:sp>
        <p:nvSpPr>
          <p:cNvPr id="6" name="Footer Placeholder 5">
            <a:extLst>
              <a:ext uri="{FF2B5EF4-FFF2-40B4-BE49-F238E27FC236}">
                <a16:creationId xmlns:a16="http://schemas.microsoft.com/office/drawing/2014/main" id="{B1114494-BB92-787A-936E-E06D831B7DCE}"/>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6625957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0F7B2-F51C-D0CC-23FC-69DB7DCCBD8A}"/>
              </a:ext>
            </a:extLst>
          </p:cNvPr>
          <p:cNvSpPr>
            <a:spLocks noGrp="1"/>
          </p:cNvSpPr>
          <p:nvPr>
            <p:ph type="title"/>
          </p:nvPr>
        </p:nvSpPr>
        <p:spPr/>
        <p:txBody>
          <a:bodyPr anchor="b">
            <a:normAutofit/>
          </a:bodyPr>
          <a:lstStyle/>
          <a:p>
            <a:r>
              <a:rPr lang="en-US" dirty="0"/>
              <a:t>Experiment 4: Unloading Response</a:t>
            </a:r>
          </a:p>
        </p:txBody>
      </p:sp>
      <p:sp>
        <p:nvSpPr>
          <p:cNvPr id="11" name="Content Placeholder 2">
            <a:extLst>
              <a:ext uri="{FF2B5EF4-FFF2-40B4-BE49-F238E27FC236}">
                <a16:creationId xmlns:a16="http://schemas.microsoft.com/office/drawing/2014/main" id="{A3D4352E-D4D7-DFD6-3DCC-C4D71B7B1963}"/>
              </a:ext>
            </a:extLst>
          </p:cNvPr>
          <p:cNvSpPr>
            <a:spLocks noGrp="1"/>
          </p:cNvSpPr>
          <p:nvPr>
            <p:ph idx="1"/>
          </p:nvPr>
        </p:nvSpPr>
        <p:spPr/>
        <p:txBody>
          <a:bodyPr/>
          <a:lstStyle/>
          <a:p>
            <a:r>
              <a:rPr lang="en-US" dirty="0"/>
              <a:t>Fifteen tubes (five each of three sizes)</a:t>
            </a:r>
          </a:p>
          <a:p>
            <a:r>
              <a:rPr lang="en-US" dirty="0"/>
              <a:t>Nominal bending radius of 50 mm</a:t>
            </a:r>
          </a:p>
          <a:p>
            <a:r>
              <a:rPr lang="en-US" dirty="0"/>
              <a:t>Measured curvature at several intervals after removal from jig</a:t>
            </a:r>
          </a:p>
        </p:txBody>
      </p:sp>
      <p:sp>
        <p:nvSpPr>
          <p:cNvPr id="13" name="Footer Placeholder 5">
            <a:extLst>
              <a:ext uri="{FF2B5EF4-FFF2-40B4-BE49-F238E27FC236}">
                <a16:creationId xmlns:a16="http://schemas.microsoft.com/office/drawing/2014/main" id="{974FD9A5-DC93-CACA-F52E-2DDEA1E98F1B}"/>
              </a:ext>
            </a:extLst>
          </p:cNvPr>
          <p:cNvSpPr>
            <a:spLocks noGrp="1"/>
          </p:cNvSpPr>
          <p:nvPr>
            <p:ph type="ftr" sz="quarter" idx="11"/>
          </p:nvPr>
        </p:nvSpPr>
        <p:spPr>
          <a:xfrm>
            <a:off x="609600" y="6172200"/>
            <a:ext cx="6807200" cy="5334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D6D6D"/>
                </a:solidFill>
                <a:effectLst/>
                <a:uLnTx/>
                <a:uFillTx/>
                <a:latin typeface="Verdana"/>
                <a:ea typeface="+mn-ea"/>
                <a:cs typeface="+mn-cs"/>
              </a:rPr>
              <a:t>A. Lu, F. Ramos, J.-T. Lin, and T. K. Morimoto, “Enabling Higher Performance Concentric Tube Robots Via Multiple Constant-Curvature Tubes,” in 2023 International Symposium on Medical Robotics (ISMR), Apr. 2023, pp. 1–7. </a:t>
            </a:r>
            <a:r>
              <a:rPr kumimoji="0" lang="en-US" sz="1000" b="0" i="0" u="none" strike="noStrike" kern="1200" cap="none" spc="0" normalizeH="0" baseline="0" noProof="0" dirty="0" err="1">
                <a:ln>
                  <a:noFill/>
                </a:ln>
                <a:solidFill>
                  <a:srgbClr val="6D6D6D"/>
                </a:solidFill>
                <a:effectLst/>
                <a:uLnTx/>
                <a:uFillTx/>
                <a:latin typeface="Verdana"/>
                <a:ea typeface="+mn-ea"/>
                <a:cs typeface="+mn-cs"/>
              </a:rPr>
              <a:t>doi</a:t>
            </a:r>
            <a:r>
              <a:rPr kumimoji="0" lang="en-US" sz="1000" b="0" i="0" u="none" strike="noStrike" kern="1200" cap="none" spc="0" normalizeH="0" baseline="0" noProof="0" dirty="0">
                <a:ln>
                  <a:noFill/>
                </a:ln>
                <a:solidFill>
                  <a:srgbClr val="6D6D6D"/>
                </a:solidFill>
                <a:effectLst/>
                <a:uLnTx/>
                <a:uFillTx/>
                <a:latin typeface="Verdana"/>
                <a:ea typeface="+mn-ea"/>
                <a:cs typeface="+mn-cs"/>
              </a:rPr>
              <a:t>: </a:t>
            </a:r>
            <a:r>
              <a:rPr kumimoji="0" lang="en-US" sz="1000" b="0" i="0" u="none" strike="noStrike" kern="1200" cap="none" spc="0" normalizeH="0" baseline="0" noProof="0" dirty="0">
                <a:ln>
                  <a:noFill/>
                </a:ln>
                <a:solidFill>
                  <a:srgbClr val="6D6D6D"/>
                </a:solidFill>
                <a:effectLst/>
                <a:uLnTx/>
                <a:uFillTx/>
                <a:latin typeface="Verdana"/>
                <a:ea typeface="+mn-ea"/>
                <a:cs typeface="+mn-cs"/>
                <a:hlinkClick r:id="rId3">
                  <a:extLst>
                    <a:ext uri="{A12FA001-AC4F-418D-AE19-62706E023703}">
                      <ahyp:hlinkClr xmlns:ahyp="http://schemas.microsoft.com/office/drawing/2018/hyperlinkcolor" val="tx"/>
                    </a:ext>
                  </a:extLst>
                </a:hlinkClick>
              </a:rPr>
              <a:t>10.1109/ISMR57123.2023.10130226</a:t>
            </a:r>
            <a:r>
              <a:rPr kumimoji="0" lang="en-US" sz="1000" b="0" i="0" u="none" strike="noStrike" kern="1200" cap="none" spc="0" normalizeH="0" baseline="0" noProof="0" dirty="0">
                <a:ln>
                  <a:noFill/>
                </a:ln>
                <a:solidFill>
                  <a:srgbClr val="6D6D6D"/>
                </a:solidFill>
                <a:effectLst/>
                <a:uLnTx/>
                <a:uFillTx/>
                <a:latin typeface="Verdana"/>
                <a:ea typeface="+mn-ea"/>
                <a:cs typeface="+mn-cs"/>
              </a:rPr>
              <a:t>.</a:t>
            </a:r>
          </a:p>
        </p:txBody>
      </p:sp>
      <p:sp>
        <p:nvSpPr>
          <p:cNvPr id="5" name="Slide Number Placeholder 4">
            <a:extLst>
              <a:ext uri="{FF2B5EF4-FFF2-40B4-BE49-F238E27FC236}">
                <a16:creationId xmlns:a16="http://schemas.microsoft.com/office/drawing/2014/main" id="{E90FDB36-EDCC-B1F2-75A4-32CEB4707806}"/>
              </a:ext>
            </a:extLst>
          </p:cNvPr>
          <p:cNvSpPr>
            <a:spLocks noGrp="1"/>
          </p:cNvSpPr>
          <p:nvPr>
            <p:ph type="sldNum" sz="quarter" idx="12"/>
          </p:nvPr>
        </p:nvSpPr>
        <p:spPr/>
        <p:txBody>
          <a:bodyPr anchor="ctr">
            <a:normAutofit/>
          </a:bodyPr>
          <a:lstStyle/>
          <a:p>
            <a:pPr>
              <a:spcAft>
                <a:spcPts val="600"/>
              </a:spcAft>
            </a:pPr>
            <a:fld id="{963B0023-0CED-47F7-85AE-654F0B232C29}" type="slidenum">
              <a:rPr lang="en-US" smtClean="0"/>
              <a:pPr>
                <a:spcAft>
                  <a:spcPts val="600"/>
                </a:spcAft>
              </a:pPr>
              <a:t>24</a:t>
            </a:fld>
            <a:endParaRPr lang="en-US"/>
          </a:p>
        </p:txBody>
      </p:sp>
    </p:spTree>
    <p:extLst>
      <p:ext uri="{BB962C8B-B14F-4D97-AF65-F5344CB8AC3E}">
        <p14:creationId xmlns:p14="http://schemas.microsoft.com/office/powerpoint/2010/main" val="4407392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2FEA3-361E-FD2B-CA93-7915183F535C}"/>
              </a:ext>
            </a:extLst>
          </p:cNvPr>
          <p:cNvSpPr>
            <a:spLocks noGrp="1"/>
          </p:cNvSpPr>
          <p:nvPr>
            <p:ph type="title"/>
          </p:nvPr>
        </p:nvSpPr>
        <p:spPr/>
        <p:txBody>
          <a:bodyPr/>
          <a:lstStyle/>
          <a:p>
            <a:r>
              <a:rPr lang="en-US" dirty="0"/>
              <a:t>Experiment 4: Unloading Response</a:t>
            </a:r>
          </a:p>
        </p:txBody>
      </p:sp>
      <p:sp>
        <p:nvSpPr>
          <p:cNvPr id="4" name="Footer Placeholder 3">
            <a:extLst>
              <a:ext uri="{FF2B5EF4-FFF2-40B4-BE49-F238E27FC236}">
                <a16:creationId xmlns:a16="http://schemas.microsoft.com/office/drawing/2014/main" id="{6876E460-0985-3C70-7FB1-8606F27CEF9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6C23CDB-A618-99FF-FC8A-C3BCD2A0F728}"/>
              </a:ext>
            </a:extLst>
          </p:cNvPr>
          <p:cNvSpPr>
            <a:spLocks noGrp="1"/>
          </p:cNvSpPr>
          <p:nvPr>
            <p:ph type="sldNum" sz="quarter" idx="12"/>
          </p:nvPr>
        </p:nvSpPr>
        <p:spPr/>
        <p:txBody>
          <a:bodyPr/>
          <a:lstStyle/>
          <a:p>
            <a:fld id="{963B0023-0CED-47F7-85AE-654F0B232C29}" type="slidenum">
              <a:rPr lang="en-US" smtClean="0"/>
              <a:pPr/>
              <a:t>25</a:t>
            </a:fld>
            <a:endParaRPr lang="en-US" dirty="0"/>
          </a:p>
        </p:txBody>
      </p:sp>
      <p:pic>
        <p:nvPicPr>
          <p:cNvPr id="6" name="Picture 5">
            <a:extLst>
              <a:ext uri="{FF2B5EF4-FFF2-40B4-BE49-F238E27FC236}">
                <a16:creationId xmlns:a16="http://schemas.microsoft.com/office/drawing/2014/main" id="{581BABD0-6B9F-A7C4-4DE0-FFF5313876BD}"/>
              </a:ext>
            </a:extLst>
          </p:cNvPr>
          <p:cNvPicPr>
            <a:picLocks noChangeAspect="1"/>
          </p:cNvPicPr>
          <p:nvPr/>
        </p:nvPicPr>
        <p:blipFill rotWithShape="1">
          <a:blip r:embed="rId3"/>
          <a:srcRect l="17913" r="19937"/>
          <a:stretch/>
        </p:blipFill>
        <p:spPr>
          <a:xfrm>
            <a:off x="3200400" y="1699215"/>
            <a:ext cx="5791200" cy="3459569"/>
          </a:xfrm>
          <a:prstGeom prst="rect">
            <a:avLst/>
          </a:prstGeom>
        </p:spPr>
      </p:pic>
      <p:sp>
        <p:nvSpPr>
          <p:cNvPr id="7" name="TextBox 6">
            <a:extLst>
              <a:ext uri="{FF2B5EF4-FFF2-40B4-BE49-F238E27FC236}">
                <a16:creationId xmlns:a16="http://schemas.microsoft.com/office/drawing/2014/main" id="{6D44DBD9-4042-4B32-8B60-142AFC8D1D57}"/>
              </a:ext>
            </a:extLst>
          </p:cNvPr>
          <p:cNvSpPr txBox="1"/>
          <p:nvPr/>
        </p:nvSpPr>
        <p:spPr>
          <a:xfrm>
            <a:off x="5638800" y="5322592"/>
            <a:ext cx="914400" cy="914400"/>
          </a:xfrm>
          <a:prstGeom prst="rect">
            <a:avLst/>
          </a:prstGeom>
          <a:noFill/>
        </p:spPr>
        <p:txBody>
          <a:bodyPr wrap="none" rtlCol="0">
            <a:noAutofit/>
          </a:bodyPr>
          <a:lstStyle/>
          <a:p>
            <a:pPr algn="ctr"/>
            <a:r>
              <a:rPr lang="en-US" sz="1600" dirty="0"/>
              <a:t>There will be a relevant graph here.</a:t>
            </a:r>
          </a:p>
          <a:p>
            <a:pPr algn="ctr"/>
            <a:r>
              <a:rPr lang="en-US" sz="1600" dirty="0"/>
              <a:t>Eventually.</a:t>
            </a:r>
          </a:p>
        </p:txBody>
      </p:sp>
    </p:spTree>
    <p:extLst>
      <p:ext uri="{BB962C8B-B14F-4D97-AF65-F5344CB8AC3E}">
        <p14:creationId xmlns:p14="http://schemas.microsoft.com/office/powerpoint/2010/main" val="2530573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097764"/>
            <a:ext cx="10736424" cy="1524001"/>
          </a:xfrm>
        </p:spPr>
        <p:txBody>
          <a:bodyPr/>
          <a:lstStyle/>
          <a:p>
            <a:r>
              <a:rPr lang="en-US" dirty="0"/>
              <a:t>An Experimental Study of the Mechanical Response of Nylon-12 Tubing: Practical Implications for Use in Concentric Tube Robots</a:t>
            </a:r>
          </a:p>
        </p:txBody>
      </p:sp>
      <p:sp>
        <p:nvSpPr>
          <p:cNvPr id="3" name="Subtitle 2"/>
          <p:cNvSpPr>
            <a:spLocks noGrp="1"/>
          </p:cNvSpPr>
          <p:nvPr>
            <p:ph type="subTitle" idx="1"/>
          </p:nvPr>
        </p:nvSpPr>
        <p:spPr>
          <a:xfrm>
            <a:off x="609600" y="4853412"/>
            <a:ext cx="9144000" cy="990600"/>
          </a:xfrm>
        </p:spPr>
        <p:txBody>
          <a:bodyPr/>
          <a:lstStyle/>
          <a:p>
            <a:r>
              <a:rPr lang="en-US" dirty="0"/>
              <a:t>Christopher DeMaio</a:t>
            </a:r>
          </a:p>
        </p:txBody>
      </p:sp>
    </p:spTree>
    <p:extLst>
      <p:ext uri="{BB962C8B-B14F-4D97-AF65-F5344CB8AC3E}">
        <p14:creationId xmlns:p14="http://schemas.microsoft.com/office/powerpoint/2010/main" val="37720752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5e1d76e6ed25a0b9acc172e1212e12c5ea2ecb"/>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PI-White">
  <a:themeElements>
    <a:clrScheme name="Custom 56">
      <a:dk1>
        <a:sysClr val="windowText" lastClr="000000"/>
      </a:dk1>
      <a:lt1>
        <a:sysClr val="window" lastClr="FFFFFF"/>
      </a:lt1>
      <a:dk2>
        <a:srgbClr val="6D6D6D"/>
      </a:dk2>
      <a:lt2>
        <a:srgbClr val="AB192D"/>
      </a:lt2>
      <a:accent1>
        <a:srgbClr val="AB192D"/>
      </a:accent1>
      <a:accent2>
        <a:srgbClr val="B2B7BB"/>
      </a:accent2>
      <a:accent3>
        <a:srgbClr val="2C6A8C"/>
      </a:accent3>
      <a:accent4>
        <a:srgbClr val="B7A079"/>
      </a:accent4>
      <a:accent5>
        <a:srgbClr val="46A0DC"/>
      </a:accent5>
      <a:accent6>
        <a:srgbClr val="6D6D6D"/>
      </a:accent6>
      <a:hlink>
        <a:srgbClr val="46A0DC"/>
      </a:hlink>
      <a:folHlink>
        <a:srgbClr val="808DA9"/>
      </a:folHlink>
    </a:clrScheme>
    <a:fontScheme name="Verdana">
      <a:majorFont>
        <a:latin typeface="Verdana"/>
        <a:ea typeface=""/>
        <a:cs typeface=""/>
      </a:majorFont>
      <a:minorFont>
        <a:latin typeface="Verdana"/>
        <a:ea typeface=""/>
        <a:cs typeface=""/>
      </a:minorFont>
    </a:fontScheme>
    <a:fmtScheme name="NewsPrint">
      <a:fillStyleLst>
        <a:solidFill>
          <a:schemeClr val="phClr"/>
        </a:solidFill>
        <a:gradFill rotWithShape="1">
          <a:gsLst>
            <a:gs pos="0">
              <a:schemeClr val="phClr">
                <a:tint val="37000"/>
                <a:hueMod val="100000"/>
                <a:satMod val="200000"/>
                <a:lumMod val="88000"/>
              </a:schemeClr>
            </a:gs>
            <a:gs pos="100000">
              <a:schemeClr val="phClr">
                <a:tint val="53000"/>
                <a:shade val="100000"/>
                <a:hueMod val="100000"/>
                <a:satMod val="350000"/>
                <a:lumMod val="79000"/>
              </a:schemeClr>
            </a:gs>
          </a:gsLst>
          <a:lin ang="5400000" scaled="1"/>
        </a:gradFill>
        <a:gradFill rotWithShape="1">
          <a:gsLst>
            <a:gs pos="0">
              <a:schemeClr val="phClr">
                <a:tint val="83000"/>
                <a:shade val="100000"/>
                <a:alpha val="100000"/>
                <a:hueMod val="100000"/>
                <a:satMod val="220000"/>
                <a:lumMod val="90000"/>
              </a:schemeClr>
            </a:gs>
            <a:gs pos="76000">
              <a:schemeClr val="phClr">
                <a:shade val="100000"/>
              </a:schemeClr>
            </a:gs>
            <a:gs pos="100000">
              <a:schemeClr val="phClr">
                <a:shade val="93000"/>
                <a:alpha val="100000"/>
                <a:satMod val="100000"/>
                <a:lumMod val="93000"/>
              </a:schemeClr>
            </a:gs>
          </a:gsLst>
          <a:path path="circle">
            <a:fillToRect l="15000" t="15000" r="100000" b="100000"/>
          </a:path>
        </a:gradFill>
      </a:fillStyleLst>
      <a:lnStyleLst>
        <a:ln w="15875" cap="flat" cmpd="sng" algn="ctr">
          <a:solidFill>
            <a:schemeClr val="phClr"/>
          </a:solidFill>
          <a:prstDash val="solid"/>
        </a:ln>
        <a:ln w="22225" cap="flat" cmpd="sng" algn="ctr">
          <a:solidFill>
            <a:schemeClr val="phClr"/>
          </a:solidFill>
          <a:prstDash val="solid"/>
        </a:ln>
        <a:ln w="34925" cap="flat" cmpd="sng" algn="ctr">
          <a:solidFill>
            <a:schemeClr val="phClr"/>
          </a:solidFill>
          <a:prstDash val="solid"/>
        </a:ln>
      </a:lnStyleLst>
      <a:effectStyleLst>
        <a:effectStyle>
          <a:effectLst>
            <a:outerShdw blurRad="50800" dist="12700" dir="5280000" rotWithShape="0">
              <a:srgbClr val="000000">
                <a:alpha val="40000"/>
              </a:srgbClr>
            </a:outerShdw>
          </a:effectLst>
        </a:effectStyle>
        <a:effectStyle>
          <a:effectLst>
            <a:outerShdw blurRad="38100" dist="38100" dir="5400000" rotWithShape="0">
              <a:srgbClr val="000000">
                <a:alpha val="35000"/>
              </a:srgbClr>
            </a:outerShdw>
          </a:effectLst>
        </a:effectStyle>
        <a:effectStyle>
          <a:effectLst>
            <a:outerShdw blurRad="38100" dist="38100" dir="5400000" rotWithShape="0">
              <a:srgbClr val="000000">
                <a:alpha val="35000"/>
              </a:srgbClr>
            </a:outerShdw>
          </a:effectLst>
          <a:scene3d>
            <a:camera prst="orthographicFront">
              <a:rot lat="0" lon="0" rev="0"/>
            </a:camera>
            <a:lightRig rig="brightRoom" dir="tl"/>
          </a:scene3d>
          <a:sp3d contourW="12700">
            <a:bevelT w="31750" h="12700"/>
            <a:contourClr>
              <a:schemeClr val="phClr"/>
            </a:contourClr>
          </a:sp3d>
        </a:effectStyle>
      </a:effectStyleLst>
      <a:bgFillStyleLst>
        <a:solidFill>
          <a:schemeClr val="phClr"/>
        </a:solidFill>
        <a:gradFill rotWithShape="1">
          <a:gsLst>
            <a:gs pos="0">
              <a:schemeClr val="phClr">
                <a:tint val="93000"/>
              </a:schemeClr>
            </a:gs>
            <a:gs pos="100000">
              <a:schemeClr val="phClr">
                <a:shade val="55000"/>
              </a:schemeClr>
            </a:gs>
          </a:gsLst>
          <a:lin ang="5400000" scaled="1"/>
        </a:gradFill>
        <a:blipFill rotWithShape="1">
          <a:blip xmlns:r="http://schemas.openxmlformats.org/officeDocument/2006/relationships" r:embed="rId1">
            <a:duotone>
              <a:schemeClr val="phClr">
                <a:shade val="20000"/>
                <a:satMod val="350000"/>
                <a:lumMod val="125000"/>
              </a:schemeClr>
              <a:schemeClr val="phClr">
                <a:tint val="90000"/>
                <a:satMod val="250000"/>
              </a:schemeClr>
            </a:duotone>
          </a:blip>
          <a:stretch/>
        </a:blipFill>
      </a:bgFillStyleLst>
    </a:fmtScheme>
  </a:themeElements>
  <a:objectDefaults>
    <a:spDef>
      <a:spPr bwMode="auto">
        <a:solidFill>
          <a:schemeClr val="accent2"/>
        </a:solidFill>
        <a:ln w="12700" cap="sq" algn="ctr">
          <a:solidFill>
            <a:schemeClr val="tx2"/>
          </a:solidFill>
          <a:miter lim="800000"/>
          <a:headEnd/>
          <a:tailEnd/>
        </a:ln>
        <a:effectLst/>
      </a:spPr>
      <a:bodyPr wrap="none" anchor="ctr"/>
      <a:lstStyle>
        <a:defPPr algn="ctr">
          <a:defRPr sz="1600" dirty="0" smtClean="0">
            <a:solidFill>
              <a:schemeClr val="bg1"/>
            </a:solidFill>
            <a:latin typeface="+mn-lt"/>
          </a:defRPr>
        </a:defPPr>
      </a:lstStyle>
    </a:spDef>
    <a:txDef>
      <a:spPr>
        <a:noFill/>
      </a:spPr>
      <a:bodyPr wrap="none" rtlCol="0">
        <a:noAutofit/>
      </a:bodyPr>
      <a:lstStyle>
        <a:defPPr algn="ctr">
          <a:defRPr sz="1600" dirty="0" err="1" smtClean="0"/>
        </a:defPPr>
      </a:lstStyle>
    </a:txDef>
  </a:objectDefaults>
  <a:extraClrSchemeLst/>
</a:theme>
</file>

<file path=ppt/theme/theme2.xml><?xml version="1.0" encoding="utf-8"?>
<a:theme xmlns:a="http://schemas.openxmlformats.org/drawingml/2006/main" name="WPI_Gray">
  <a:themeElements>
    <a:clrScheme name="Custom 57">
      <a:dk1>
        <a:srgbClr val="FFFFFF"/>
      </a:dk1>
      <a:lt1>
        <a:srgbClr val="6D6D6D"/>
      </a:lt1>
      <a:dk2>
        <a:srgbClr val="000000"/>
      </a:dk2>
      <a:lt2>
        <a:srgbClr val="FFFFFF"/>
      </a:lt2>
      <a:accent1>
        <a:srgbClr val="AB192D"/>
      </a:accent1>
      <a:accent2>
        <a:srgbClr val="B2B7BB"/>
      </a:accent2>
      <a:accent3>
        <a:srgbClr val="2C6A8C"/>
      </a:accent3>
      <a:accent4>
        <a:srgbClr val="B7A079"/>
      </a:accent4>
      <a:accent5>
        <a:srgbClr val="46A0DC"/>
      </a:accent5>
      <a:accent6>
        <a:srgbClr val="D9CD95"/>
      </a:accent6>
      <a:hlink>
        <a:srgbClr val="46A0DC"/>
      </a:hlink>
      <a:folHlink>
        <a:srgbClr val="808DA9"/>
      </a:folHlink>
    </a:clrScheme>
    <a:fontScheme name="Verdana">
      <a:majorFont>
        <a:latin typeface="Verdana"/>
        <a:ea typeface=""/>
        <a:cs typeface=""/>
      </a:majorFont>
      <a:minorFont>
        <a:latin typeface="Verdana"/>
        <a:ea typeface=""/>
        <a:cs typeface=""/>
      </a:minorFont>
    </a:fontScheme>
    <a:fmtScheme name="NewsPrint">
      <a:fillStyleLst>
        <a:solidFill>
          <a:schemeClr val="phClr"/>
        </a:solidFill>
        <a:gradFill rotWithShape="1">
          <a:gsLst>
            <a:gs pos="0">
              <a:schemeClr val="phClr">
                <a:tint val="37000"/>
                <a:hueMod val="100000"/>
                <a:satMod val="200000"/>
                <a:lumMod val="88000"/>
              </a:schemeClr>
            </a:gs>
            <a:gs pos="100000">
              <a:schemeClr val="phClr">
                <a:tint val="53000"/>
                <a:shade val="100000"/>
                <a:hueMod val="100000"/>
                <a:satMod val="350000"/>
                <a:lumMod val="79000"/>
              </a:schemeClr>
            </a:gs>
          </a:gsLst>
          <a:lin ang="5400000" scaled="1"/>
        </a:gradFill>
        <a:gradFill rotWithShape="1">
          <a:gsLst>
            <a:gs pos="0">
              <a:schemeClr val="phClr">
                <a:tint val="83000"/>
                <a:shade val="100000"/>
                <a:alpha val="100000"/>
                <a:hueMod val="100000"/>
                <a:satMod val="220000"/>
                <a:lumMod val="90000"/>
              </a:schemeClr>
            </a:gs>
            <a:gs pos="76000">
              <a:schemeClr val="phClr">
                <a:shade val="100000"/>
              </a:schemeClr>
            </a:gs>
            <a:gs pos="100000">
              <a:schemeClr val="phClr">
                <a:shade val="93000"/>
                <a:alpha val="100000"/>
                <a:satMod val="100000"/>
                <a:lumMod val="93000"/>
              </a:schemeClr>
            </a:gs>
          </a:gsLst>
          <a:path path="circle">
            <a:fillToRect l="15000" t="15000" r="100000" b="100000"/>
          </a:path>
        </a:gradFill>
      </a:fillStyleLst>
      <a:lnStyleLst>
        <a:ln w="15875" cap="flat" cmpd="sng" algn="ctr">
          <a:solidFill>
            <a:schemeClr val="phClr"/>
          </a:solidFill>
          <a:prstDash val="solid"/>
        </a:ln>
        <a:ln w="22225" cap="flat" cmpd="sng" algn="ctr">
          <a:solidFill>
            <a:schemeClr val="phClr"/>
          </a:solidFill>
          <a:prstDash val="solid"/>
        </a:ln>
        <a:ln w="34925" cap="flat" cmpd="sng" algn="ctr">
          <a:solidFill>
            <a:schemeClr val="phClr"/>
          </a:solidFill>
          <a:prstDash val="solid"/>
        </a:ln>
      </a:lnStyleLst>
      <a:effectStyleLst>
        <a:effectStyle>
          <a:effectLst>
            <a:outerShdw blurRad="50800" dist="12700" dir="5280000" rotWithShape="0">
              <a:srgbClr val="000000">
                <a:alpha val="40000"/>
              </a:srgbClr>
            </a:outerShdw>
          </a:effectLst>
        </a:effectStyle>
        <a:effectStyle>
          <a:effectLst>
            <a:outerShdw blurRad="38100" dist="38100" dir="5400000" rotWithShape="0">
              <a:srgbClr val="000000">
                <a:alpha val="35000"/>
              </a:srgbClr>
            </a:outerShdw>
          </a:effectLst>
        </a:effectStyle>
        <a:effectStyle>
          <a:effectLst>
            <a:outerShdw blurRad="38100" dist="38100" dir="5400000" rotWithShape="0">
              <a:srgbClr val="000000">
                <a:alpha val="35000"/>
              </a:srgbClr>
            </a:outerShdw>
          </a:effectLst>
          <a:scene3d>
            <a:camera prst="orthographicFront">
              <a:rot lat="0" lon="0" rev="0"/>
            </a:camera>
            <a:lightRig rig="brightRoom" dir="tl"/>
          </a:scene3d>
          <a:sp3d contourW="12700">
            <a:bevelT w="31750" h="12700"/>
            <a:contourClr>
              <a:schemeClr val="phClr"/>
            </a:contourClr>
          </a:sp3d>
        </a:effectStyle>
      </a:effectStyleLst>
      <a:bgFillStyleLst>
        <a:solidFill>
          <a:schemeClr val="phClr"/>
        </a:solidFill>
        <a:gradFill rotWithShape="1">
          <a:gsLst>
            <a:gs pos="0">
              <a:schemeClr val="phClr">
                <a:tint val="93000"/>
              </a:schemeClr>
            </a:gs>
            <a:gs pos="100000">
              <a:schemeClr val="phClr">
                <a:shade val="55000"/>
              </a:schemeClr>
            </a:gs>
          </a:gsLst>
          <a:lin ang="5400000" scaled="1"/>
        </a:gradFill>
        <a:blipFill rotWithShape="1">
          <a:blip xmlns:r="http://schemas.openxmlformats.org/officeDocument/2006/relationships" r:embed="rId1">
            <a:duotone>
              <a:schemeClr val="phClr">
                <a:shade val="20000"/>
                <a:satMod val="350000"/>
                <a:lumMod val="125000"/>
              </a:schemeClr>
              <a:schemeClr val="phClr">
                <a:tint val="90000"/>
                <a:satMod val="250000"/>
              </a:schemeClr>
            </a:duotone>
          </a:blip>
          <a:stretch/>
        </a:blipFill>
      </a:bgFillStyleLst>
    </a:fmtScheme>
  </a:themeElements>
  <a:objectDefaults>
    <a:spDef>
      <a:spPr bwMode="auto">
        <a:solidFill>
          <a:schemeClr val="accent2">
            <a:lumMod val="40000"/>
            <a:lumOff val="60000"/>
          </a:schemeClr>
        </a:solidFill>
        <a:ln w="12700" cap="sq" algn="ctr">
          <a:solidFill>
            <a:schemeClr val="tx1"/>
          </a:solidFill>
          <a:miter lim="800000"/>
          <a:headEnd/>
          <a:tailEnd/>
        </a:ln>
        <a:effectLst/>
      </a:spPr>
      <a:bodyPr wrap="none" rtlCol="0" anchor="ctr"/>
      <a:lstStyle>
        <a:defPPr algn="ctr">
          <a:defRPr sz="1600" dirty="0" smtClean="0">
            <a:solidFill>
              <a:schemeClr val="bg1"/>
            </a:solidFill>
            <a:latin typeface="+mn-lt"/>
          </a:defRPr>
        </a:defPPr>
      </a:lstStyle>
    </a:spDef>
    <a:lnDef>
      <a:spPr bwMode="auto">
        <a:solidFill>
          <a:schemeClr val="accent2"/>
        </a:solidFill>
        <a:ln w="19050" cap="sq" cmpd="sng" algn="ctr">
          <a:solidFill>
            <a:schemeClr val="tx1"/>
          </a:solidFill>
          <a:prstDash val="solid"/>
          <a:round/>
          <a:headEnd type="triangle" w="med" len="med"/>
          <a:tailEnd type="triangle" w="med" len="med"/>
        </a:ln>
        <a:effectLst/>
      </a:spPr>
      <a:bodyPr/>
      <a:lstStyle/>
    </a:lnDef>
    <a:txDef>
      <a:spPr>
        <a:noFill/>
      </a:spPr>
      <a:bodyPr wrap="none" rtlCol="0">
        <a:noAutofit/>
      </a:bodyPr>
      <a:lstStyle>
        <a:defPPr algn="ctr">
          <a:defRPr sz="1600" dirty="0" err="1" smtClean="0"/>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WPI_2012Multi</Template>
  <TotalTime>38942</TotalTime>
  <Words>3046</Words>
  <Application>Microsoft Office PowerPoint</Application>
  <PresentationFormat>Widescreen</PresentationFormat>
  <Paragraphs>197</Paragraphs>
  <Slides>26</Slides>
  <Notes>25</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26</vt:i4>
      </vt:variant>
    </vt:vector>
  </HeadingPairs>
  <TitlesOfParts>
    <vt:vector size="35" baseType="lpstr">
      <vt:lpstr>Arial</vt:lpstr>
      <vt:lpstr>Calibri</vt:lpstr>
      <vt:lpstr>Cambria Math</vt:lpstr>
      <vt:lpstr>Courier New</vt:lpstr>
      <vt:lpstr>Times New Roman</vt:lpstr>
      <vt:lpstr>Verdana</vt:lpstr>
      <vt:lpstr>Wingdings</vt:lpstr>
      <vt:lpstr>WPI-White</vt:lpstr>
      <vt:lpstr>WPI_Gray</vt:lpstr>
      <vt:lpstr>An Experimental Study of the Mechanical Response of Nylon-12 Tubing: Practical Implications for Use in Concentric Tube Robots</vt:lpstr>
      <vt:lpstr>Outline</vt:lpstr>
      <vt:lpstr>Contributions</vt:lpstr>
      <vt:lpstr>Background: Concentric Tube Robots (CTRs)</vt:lpstr>
      <vt:lpstr>Background: CTR Modeling</vt:lpstr>
      <vt:lpstr>Background: CTR Modeling</vt:lpstr>
      <vt:lpstr>Background: CTR Modeling</vt:lpstr>
      <vt:lpstr>Background: CTR Tube Material</vt:lpstr>
      <vt:lpstr>Background: CTR Tube Material</vt:lpstr>
      <vt:lpstr>Background: CTR Fabrication</vt:lpstr>
      <vt:lpstr>Background: CTR Fabrication</vt:lpstr>
      <vt:lpstr>Motivation: CTR Fabrication</vt:lpstr>
      <vt:lpstr>Experiment 1: Heat-Setting and Relaxation</vt:lpstr>
      <vt:lpstr>Experiment 1: Heat-Setting and Relaxation</vt:lpstr>
      <vt:lpstr>Experiment 1: Heat-Setting and Relaxation</vt:lpstr>
      <vt:lpstr>Experiment 1: Heat-Setting and Relaxation</vt:lpstr>
      <vt:lpstr>Experiment 2: In-Plane Bending</vt:lpstr>
      <vt:lpstr>Experiment 2: In-Plane Bending</vt:lpstr>
      <vt:lpstr>Experiment 2: In-Plane Bending</vt:lpstr>
      <vt:lpstr>Experiment 2: In-Plane Bending</vt:lpstr>
      <vt:lpstr>Experiment 3: Repeated Straightening</vt:lpstr>
      <vt:lpstr>Experiment 3: Repeated Straightening</vt:lpstr>
      <vt:lpstr>Experiment 3: Repeated Straightening</vt:lpstr>
      <vt:lpstr>Experiment 4: Unloading Response</vt:lpstr>
      <vt:lpstr>Experiment 4: Unloading Response</vt:lpstr>
      <vt:lpstr>An Experimental Study of the Mechanical Response of Nylon-12 Tubing: Practical Implications for Use in Concentric Tube Robots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Verdana Bold 40pt</dc:title>
  <dc:creator>Melissa</dc:creator>
  <cp:lastModifiedBy>DeMaio, Christopher</cp:lastModifiedBy>
  <cp:revision>29</cp:revision>
  <dcterms:created xsi:type="dcterms:W3CDTF">2015-05-27T13:16:15Z</dcterms:created>
  <dcterms:modified xsi:type="dcterms:W3CDTF">2024-04-10T15:37:26Z</dcterms:modified>
</cp:coreProperties>
</file>